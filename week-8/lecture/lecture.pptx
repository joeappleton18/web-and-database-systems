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7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sldIdLst>
    <p:sldId id="256" r:id="rId2"/>
    <p:sldId id="358" r:id="rId3"/>
    <p:sldId id="460" r:id="rId4"/>
    <p:sldId id="300" r:id="rId5"/>
    <p:sldId id="343" r:id="rId6"/>
    <p:sldId id="301" r:id="rId7"/>
    <p:sldId id="302" r:id="rId8"/>
    <p:sldId id="303" r:id="rId9"/>
    <p:sldId id="304" r:id="rId10"/>
    <p:sldId id="305" r:id="rId11"/>
    <p:sldId id="308" r:id="rId12"/>
    <p:sldId id="311" r:id="rId13"/>
    <p:sldId id="312" r:id="rId14"/>
    <p:sldId id="320" r:id="rId15"/>
    <p:sldId id="321" r:id="rId16"/>
    <p:sldId id="314" r:id="rId17"/>
    <p:sldId id="315" r:id="rId18"/>
    <p:sldId id="316" r:id="rId19"/>
    <p:sldId id="317" r:id="rId20"/>
    <p:sldId id="318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29" r:id="rId29"/>
    <p:sldId id="331" r:id="rId30"/>
    <p:sldId id="332" r:id="rId31"/>
    <p:sldId id="295" r:id="rId32"/>
    <p:sldId id="462" r:id="rId33"/>
    <p:sldId id="465" r:id="rId34"/>
    <p:sldId id="466" r:id="rId35"/>
    <p:sldId id="467" r:id="rId36"/>
    <p:sldId id="470" r:id="rId37"/>
    <p:sldId id="469" r:id="rId38"/>
    <p:sldId id="468" r:id="rId39"/>
    <p:sldId id="463" r:id="rId40"/>
    <p:sldId id="474" r:id="rId41"/>
    <p:sldId id="475" r:id="rId42"/>
    <p:sldId id="459" r:id="rId43"/>
    <p:sldId id="471" r:id="rId44"/>
    <p:sldId id="476" r:id="rId45"/>
    <p:sldId id="477" r:id="rId46"/>
    <p:sldId id="478" r:id="rId47"/>
    <p:sldId id="479" r:id="rId48"/>
    <p:sldId id="481" r:id="rId49"/>
    <p:sldId id="482" r:id="rId50"/>
    <p:sldId id="483" r:id="rId51"/>
    <p:sldId id="485" r:id="rId52"/>
    <p:sldId id="484" r:id="rId53"/>
    <p:sldId id="486" r:id="rId54"/>
    <p:sldId id="487" r:id="rId55"/>
    <p:sldId id="488" r:id="rId56"/>
    <p:sldId id="489" r:id="rId57"/>
    <p:sldId id="490" r:id="rId58"/>
    <p:sldId id="492" r:id="rId59"/>
    <p:sldId id="480" r:id="rId60"/>
    <p:sldId id="472" r:id="rId61"/>
    <p:sldId id="333" r:id="rId6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82"/>
    <p:restoredTop sz="62313"/>
  </p:normalViewPr>
  <p:slideViewPr>
    <p:cSldViewPr>
      <p:cViewPr varScale="1">
        <p:scale>
          <a:sx n="72" d="100"/>
          <a:sy n="72" d="100"/>
        </p:scale>
        <p:origin x="2576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2:59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6T20:13:0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21D4C-215F-1743-9758-7144C485C237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3539A-6566-C14F-AE2C-1782748B24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88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Develop students' understanding of the theory, design, and development of database systems and the key role database systems play in the real world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Equip students with the basic knowledge of frontend and backend web technologies that can be used to interface a database system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Develop students' analytical and problem-solving skills via modelling data of real-world problems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Perspective of the designer and developer of </a:t>
            </a:r>
            <a:r>
              <a:rPr lang="en-GB" b="0" i="0" dirty="0" err="1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db</a:t>
            </a:r>
            <a:r>
              <a:rPr lang="en-GB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 systems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359787-1E21-8F46-B778-F1B8A493EE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5463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will be learning about the Node Package Manager (</a:t>
            </a:r>
            <a:r>
              <a:rPr lang="en-GB" dirty="0" err="1"/>
              <a:t>npm</a:t>
            </a:r>
            <a:r>
              <a:rPr lang="en-GB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359787-1E21-8F46-B778-F1B8A493EE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774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3539A-6566-C14F-AE2C-1782748B241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207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“Learn about the key technologies of Database systems and the World Wide Web (WWW)”. Why is the important?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Databases are the core component of most computer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359787-1E21-8F46-B778-F1B8A493EE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228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“Learn about the key technologies of Database systems and the World Wide Web (WWW)”. Why is the important?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Databases are the core component of most computer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359787-1E21-8F46-B778-F1B8A493EE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620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“Learn about the key technologies of Database systems and the World Wide Web (WWW)”. Why is the important?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Databases are the core component of most computer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359787-1E21-8F46-B778-F1B8A493EE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2323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“Learn about the key technologies of Database systems and the World Wide Web (WWW)”. Why is the important?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Databases are the core component of most computer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359787-1E21-8F46-B778-F1B8A493EE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364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“Learn about the key technologies of Database systems and the World Wide Web (WWW)”. Why is the important?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Databases are the core component of most computer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359787-1E21-8F46-B778-F1B8A493EE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0718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“Learn about the key technologies of Database systems and the World Wide Web (WWW)”. Why is the important?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Databases are the core component of most computer application.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359787-1E21-8F46-B778-F1B8A493EE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0526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53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53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53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" y="6477761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1000"/>
                </a:lnTo>
                <a:lnTo>
                  <a:pt x="9144000" y="381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392">
              <a:alpha val="3411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2" y="6477761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0" y="381000"/>
                </a:moveTo>
                <a:lnTo>
                  <a:pt x="9144000" y="381000"/>
                </a:lnTo>
                <a:lnTo>
                  <a:pt x="9144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19050">
            <a:solidFill>
              <a:srgbClr val="0053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457200"/>
            <a:ext cx="1524000" cy="4526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53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" y="6477761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1000"/>
                </a:lnTo>
                <a:lnTo>
                  <a:pt x="9144000" y="381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392">
              <a:alpha val="3411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2" y="6477761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0" y="381000"/>
                </a:moveTo>
                <a:lnTo>
                  <a:pt x="9144000" y="381000"/>
                </a:lnTo>
                <a:lnTo>
                  <a:pt x="9144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19050">
            <a:solidFill>
              <a:srgbClr val="0053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457200"/>
            <a:ext cx="1524000" cy="4526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0762-2658-BA91-BF54-8C5E01130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7491" y="494452"/>
            <a:ext cx="6446521" cy="55057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1650" cap="all" spc="450" baseline="0">
                <a:solidFill>
                  <a:srgbClr val="25384A"/>
                </a:solidFill>
                <a:latin typeface="Gotham" panose="02000604030000020004" pitchFamily="2" charset="0"/>
              </a:defRPr>
            </a:lvl1pPr>
          </a:lstStyle>
          <a:p>
            <a:r>
              <a:rPr lang="en-GB"/>
              <a:t>Blank Slide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7429F4-9DF5-8042-BC0C-1B1126301F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305637" y="0"/>
            <a:ext cx="2838361" cy="120768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DD2819-662F-73BD-6800-7AF0ECA7FF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8898" y="6101352"/>
            <a:ext cx="4265725" cy="365887"/>
          </a:xfrm>
        </p:spPr>
        <p:txBody>
          <a:bodyPr anchor="b">
            <a:noAutofit/>
          </a:bodyPr>
          <a:lstStyle>
            <a:lvl1pPr marL="0" indent="0" algn="r">
              <a:buNone/>
              <a:defRPr sz="1200" b="1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342900" indent="0">
              <a:buNone/>
              <a:defRPr b="1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685800" indent="0">
              <a:buNone/>
              <a:defRPr b="1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028700" indent="0">
              <a:buNone/>
              <a:defRPr b="1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371600" indent="0">
              <a:buNone/>
              <a:defRPr b="1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/>
              <a:t>1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E124D7A-281E-CB51-083B-B83CE679D0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8897" y="6490387"/>
            <a:ext cx="4265725" cy="217143"/>
          </a:xfrm>
        </p:spPr>
        <p:txBody>
          <a:bodyPr>
            <a:noAutofit/>
          </a:bodyPr>
          <a:lstStyle>
            <a:lvl1pPr marL="0" indent="0" algn="r">
              <a:buNone/>
              <a:defRPr sz="675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342900" indent="0" algn="r">
              <a:buNone/>
              <a:defRPr sz="1200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685800" indent="0" algn="r">
              <a:buNone/>
              <a:defRPr sz="1050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028700" indent="0" algn="r">
              <a:buNone/>
              <a:defRPr sz="900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371600" indent="0" algn="r">
              <a:buNone/>
              <a:defRPr sz="900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/>
              <a:t>Presentation Name | Date | Version 0.0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48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0762-2658-BA91-BF54-8C5E01130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591733"/>
            <a:ext cx="6858000" cy="1411112"/>
          </a:xfrm>
        </p:spPr>
        <p:txBody>
          <a:bodyPr anchor="b">
            <a:noAutofit/>
          </a:bodyPr>
          <a:lstStyle>
            <a:lvl1pPr algn="ctr">
              <a:defRPr sz="3000" cap="all" spc="525" baseline="0">
                <a:solidFill>
                  <a:schemeClr val="bg1"/>
                </a:solidFill>
                <a:latin typeface="Gotham" panose="02000604030000020004" pitchFamily="2" charset="0"/>
              </a:defRPr>
            </a:lvl1pPr>
          </a:lstStyle>
          <a:p>
            <a:r>
              <a:rPr lang="en-GB"/>
              <a:t>DIVIDER SLIDE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CDFE0-6391-CDAC-0749-A983AFE2DCB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3025424"/>
            <a:ext cx="6858000" cy="1140177"/>
          </a:xfrm>
        </p:spPr>
        <p:txBody>
          <a:bodyPr>
            <a:noAutofit/>
          </a:bodyPr>
          <a:lstStyle>
            <a:lvl1pPr marL="0" indent="0" algn="ctr">
              <a:buNone/>
              <a:defRPr sz="3000" b="1" cap="all" spc="450" baseline="0">
                <a:solidFill>
                  <a:schemeClr val="bg1"/>
                </a:solidFill>
                <a:latin typeface="Gotham" panose="02000604030000020004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DIVIDER SLIDE</a:t>
            </a:r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0485A84E-6D3C-5312-07B0-FE9954EBA8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8898" y="6101352"/>
            <a:ext cx="4265725" cy="365887"/>
          </a:xfrm>
        </p:spPr>
        <p:txBody>
          <a:bodyPr anchor="b">
            <a:noAutofit/>
          </a:bodyPr>
          <a:lstStyle>
            <a:lvl1pPr marL="0" indent="0" algn="r">
              <a:buNone/>
              <a:defRPr sz="1200" b="1">
                <a:solidFill>
                  <a:schemeClr val="bg1"/>
                </a:solidFill>
                <a:latin typeface="Gotham" panose="02000604030000020004" pitchFamily="2" charset="0"/>
              </a:defRPr>
            </a:lvl1pPr>
            <a:lvl2pPr marL="342900" indent="0">
              <a:buNone/>
              <a:defRPr b="1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685800" indent="0">
              <a:buNone/>
              <a:defRPr b="1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028700" indent="0">
              <a:buNone/>
              <a:defRPr b="1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371600" indent="0">
              <a:buNone/>
              <a:defRPr b="1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/>
              <a:t>1</a:t>
            </a:r>
            <a:endParaRPr lang="en-US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86BFDE0-E7E6-0BE6-91A4-EF52457F9E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8897" y="6490387"/>
            <a:ext cx="4265725" cy="217143"/>
          </a:xfrm>
        </p:spPr>
        <p:txBody>
          <a:bodyPr>
            <a:noAutofit/>
          </a:bodyPr>
          <a:lstStyle>
            <a:lvl1pPr marL="0" indent="0" algn="r">
              <a:buNone/>
              <a:defRPr sz="675">
                <a:solidFill>
                  <a:schemeClr val="bg1"/>
                </a:solidFill>
                <a:latin typeface="Gotham" panose="02000604030000020004" pitchFamily="2" charset="0"/>
              </a:defRPr>
            </a:lvl1pPr>
            <a:lvl2pPr marL="342900" indent="0" algn="r">
              <a:buNone/>
              <a:defRPr sz="1200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685800" indent="0" algn="r">
              <a:buNone/>
              <a:defRPr sz="1050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028700" indent="0" algn="r">
              <a:buNone/>
              <a:defRPr sz="900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371600" indent="0" algn="r">
              <a:buNone/>
              <a:defRPr sz="900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/>
              <a:t>Presentation Name | Date | Version 0.0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53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" y="6477761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9144000" y="0"/>
                </a:moveTo>
                <a:lnTo>
                  <a:pt x="0" y="0"/>
                </a:lnTo>
                <a:lnTo>
                  <a:pt x="0" y="381000"/>
                </a:lnTo>
                <a:lnTo>
                  <a:pt x="9144000" y="381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392">
              <a:alpha val="3411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2" y="6477761"/>
            <a:ext cx="9144000" cy="381000"/>
          </a:xfrm>
          <a:custGeom>
            <a:avLst/>
            <a:gdLst/>
            <a:ahLst/>
            <a:cxnLst/>
            <a:rect l="l" t="t" r="r" b="b"/>
            <a:pathLst>
              <a:path w="9144000" h="381000">
                <a:moveTo>
                  <a:pt x="0" y="381000"/>
                </a:moveTo>
                <a:lnTo>
                  <a:pt x="9144000" y="381000"/>
                </a:lnTo>
                <a:lnTo>
                  <a:pt x="9144000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ln w="19050">
            <a:solidFill>
              <a:srgbClr val="00539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315200" y="457200"/>
            <a:ext cx="1524000" cy="45262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28600" y="1028700"/>
            <a:ext cx="8648700" cy="76200"/>
          </a:xfrm>
          <a:custGeom>
            <a:avLst/>
            <a:gdLst/>
            <a:ahLst/>
            <a:cxnLst/>
            <a:rect l="l" t="t" r="r" b="b"/>
            <a:pathLst>
              <a:path w="8648700" h="76200">
                <a:moveTo>
                  <a:pt x="8610600" y="0"/>
                </a:moveTo>
                <a:lnTo>
                  <a:pt x="8595752" y="2988"/>
                </a:lnTo>
                <a:lnTo>
                  <a:pt x="8583644" y="11144"/>
                </a:lnTo>
                <a:lnTo>
                  <a:pt x="8575488" y="23252"/>
                </a:lnTo>
                <a:lnTo>
                  <a:pt x="8572500" y="38100"/>
                </a:lnTo>
                <a:lnTo>
                  <a:pt x="8575488" y="52947"/>
                </a:lnTo>
                <a:lnTo>
                  <a:pt x="8583644" y="65055"/>
                </a:lnTo>
                <a:lnTo>
                  <a:pt x="8595752" y="73211"/>
                </a:lnTo>
                <a:lnTo>
                  <a:pt x="8610600" y="76200"/>
                </a:lnTo>
                <a:lnTo>
                  <a:pt x="8625447" y="73211"/>
                </a:lnTo>
                <a:lnTo>
                  <a:pt x="8637555" y="65055"/>
                </a:lnTo>
                <a:lnTo>
                  <a:pt x="8645711" y="52947"/>
                </a:lnTo>
                <a:lnTo>
                  <a:pt x="8647421" y="44450"/>
                </a:lnTo>
                <a:lnTo>
                  <a:pt x="8610600" y="44450"/>
                </a:lnTo>
                <a:lnTo>
                  <a:pt x="8610600" y="31750"/>
                </a:lnTo>
                <a:lnTo>
                  <a:pt x="8647421" y="31750"/>
                </a:lnTo>
                <a:lnTo>
                  <a:pt x="8645711" y="23252"/>
                </a:lnTo>
                <a:lnTo>
                  <a:pt x="8637555" y="11144"/>
                </a:lnTo>
                <a:lnTo>
                  <a:pt x="8625447" y="2988"/>
                </a:lnTo>
                <a:lnTo>
                  <a:pt x="8610600" y="0"/>
                </a:lnTo>
                <a:close/>
              </a:path>
              <a:path w="8648700" h="76200">
                <a:moveTo>
                  <a:pt x="857377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573778" y="44450"/>
                </a:lnTo>
                <a:lnTo>
                  <a:pt x="8572500" y="38100"/>
                </a:lnTo>
                <a:lnTo>
                  <a:pt x="8573778" y="31750"/>
                </a:lnTo>
                <a:close/>
              </a:path>
              <a:path w="8648700" h="76200">
                <a:moveTo>
                  <a:pt x="8647421" y="31750"/>
                </a:moveTo>
                <a:lnTo>
                  <a:pt x="8610600" y="31750"/>
                </a:lnTo>
                <a:lnTo>
                  <a:pt x="8610600" y="44450"/>
                </a:lnTo>
                <a:lnTo>
                  <a:pt x="8647421" y="44450"/>
                </a:lnTo>
                <a:lnTo>
                  <a:pt x="8648700" y="38100"/>
                </a:lnTo>
                <a:lnTo>
                  <a:pt x="8647421" y="31750"/>
                </a:lnTo>
                <a:close/>
              </a:path>
            </a:pathLst>
          </a:custGeom>
          <a:solidFill>
            <a:srgbClr val="B59B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431419"/>
            <a:ext cx="698373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539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140" y="1601997"/>
            <a:ext cx="8501380" cy="4440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19120" y="6567398"/>
            <a:ext cx="2882265" cy="203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87485" y="6522338"/>
            <a:ext cx="287020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eveloper.mozilla.org/en-US/docs/Web/HTTP/Statu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hyperlink" Target="http://openclipart.org/detail/69331/html-logo-by-marricklip14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hyperlink" Target="http://openclipart.org/detail/69331/html-logo-by-marricklip14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./" TargetMode="External"/><Relationship Id="rId5" Type="http://schemas.openxmlformats.org/officeDocument/2006/relationships/image" Target="../media/image1.pn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hyperlink" Target="https://developer.mozilla.org/en-US/docs/Web/HTTP/Methods/POS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ko/docs/Web/HTTP/Status/404" TargetMode="External"/><Relationship Id="rId2" Type="http://schemas.openxmlformats.org/officeDocument/2006/relationships/hyperlink" Target="https://developer.mozilla.org/en-US/docs/Web/HTTP/Status/30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6.jpg"/><Relationship Id="rId4" Type="http://schemas.openxmlformats.org/officeDocument/2006/relationships/hyperlink" Target="https://developer.mozilla.org/en-US/docs/Web/HTTP/Status/403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190963/cookie" TargetMode="External"/><Relationship Id="rId13" Type="http://schemas.openxmlformats.org/officeDocument/2006/relationships/image" Target="../media/image4.png"/><Relationship Id="rId3" Type="http://schemas.openxmlformats.org/officeDocument/2006/relationships/hyperlink" Target="https://developer.mozilla.org/en-US/docs/Web/HTTP/Headers/Set-Cookie" TargetMode="External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hyperlink" Target="https://developer.mozilla.org/en-US/docs/Web/HTTP/Overview#HTTP_is_stateless_but_not_sessionles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clipart.org/detail/130009/chocolate-cookie" TargetMode="External"/><Relationship Id="rId11" Type="http://schemas.openxmlformats.org/officeDocument/2006/relationships/image" Target="../media/image25.png"/><Relationship Id="rId5" Type="http://schemas.openxmlformats.org/officeDocument/2006/relationships/image" Target="../media/image8.png"/><Relationship Id="rId10" Type="http://schemas.openxmlformats.org/officeDocument/2006/relationships/hyperlink" Target="https://openclipart.org/detail/11062/users" TargetMode="External"/><Relationship Id="rId4" Type="http://schemas.openxmlformats.org/officeDocument/2006/relationships/image" Target="../media/image20.jpg"/><Relationship Id="rId9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9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4.png"/><Relationship Id="rId3" Type="http://schemas.openxmlformats.org/officeDocument/2006/relationships/image" Target="../media/image20.jpg"/><Relationship Id="rId7" Type="http://schemas.openxmlformats.org/officeDocument/2006/relationships/hyperlink" Target="https://openclipart.org/detail/190963/cookie" TargetMode="External"/><Relationship Id="rId12" Type="http://schemas.openxmlformats.org/officeDocument/2006/relationships/image" Target="../media/image31.jpg"/><Relationship Id="rId2" Type="http://schemas.openxmlformats.org/officeDocument/2006/relationships/hyperlink" Target="https://developer.mozilla.org/en-US/docs/Web/HTTP/Headers/Cooki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hyperlink" Target="https://openclipart.org/detail/130009/chocolate-cookie" TargetMode="External"/><Relationship Id="rId10" Type="http://schemas.openxmlformats.org/officeDocument/2006/relationships/image" Target="../media/image25.png"/><Relationship Id="rId4" Type="http://schemas.openxmlformats.org/officeDocument/2006/relationships/image" Target="../media/image8.png"/><Relationship Id="rId9" Type="http://schemas.openxmlformats.org/officeDocument/2006/relationships/hyperlink" Target="https://openclipart.org/detail/11062/users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Document/cookie" TargetMode="External"/><Relationship Id="rId2" Type="http://schemas.openxmlformats.org/officeDocument/2006/relationships/hyperlink" Target="https://developer.mozilla.org/en-US/docs/Glossary/XS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4.png"/><Relationship Id="rId4" Type="http://schemas.openxmlformats.org/officeDocument/2006/relationships/image" Target="../media/image3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dpr-info.eu/recitals/no-30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pmjs.com/" TargetMode="Externa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4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5" Type="http://schemas.openxmlformats.org/officeDocument/2006/relationships/image" Target="../media/image300.png"/><Relationship Id="rId4" Type="http://schemas.openxmlformats.org/officeDocument/2006/relationships/customXml" Target="../ink/ink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4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6.xml"/><Relationship Id="rId5" Type="http://schemas.openxmlformats.org/officeDocument/2006/relationships/image" Target="../media/image300.png"/><Relationship Id="rId4" Type="http://schemas.openxmlformats.org/officeDocument/2006/relationships/customXml" Target="../ink/ink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3" Type="http://schemas.openxmlformats.org/officeDocument/2006/relationships/image" Target="../media/image49.png"/><Relationship Id="rId7" Type="http://schemas.openxmlformats.org/officeDocument/2006/relationships/image" Target="../media/image45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9.xml"/><Relationship Id="rId5" Type="http://schemas.openxmlformats.org/officeDocument/2006/relationships/image" Target="../media/image300.png"/><Relationship Id="rId10" Type="http://schemas.openxmlformats.org/officeDocument/2006/relationships/image" Target="../media/image48.png"/><Relationship Id="rId4" Type="http://schemas.openxmlformats.org/officeDocument/2006/relationships/customXml" Target="../ink/ink8.xml"/><Relationship Id="rId9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2.xml"/><Relationship Id="rId5" Type="http://schemas.openxmlformats.org/officeDocument/2006/relationships/image" Target="../media/image300.png"/><Relationship Id="rId4" Type="http://schemas.openxmlformats.org/officeDocument/2006/relationships/customXml" Target="../ink/ink1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5.xml"/><Relationship Id="rId5" Type="http://schemas.openxmlformats.org/officeDocument/2006/relationships/image" Target="../media/image300.png"/><Relationship Id="rId4" Type="http://schemas.openxmlformats.org/officeDocument/2006/relationships/customXml" Target="../ink/ink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8.xml"/><Relationship Id="rId5" Type="http://schemas.openxmlformats.org/officeDocument/2006/relationships/image" Target="../media/image300.png"/><Relationship Id="rId4" Type="http://schemas.openxmlformats.org/officeDocument/2006/relationships/customXml" Target="../ink/ink1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1.xml"/><Relationship Id="rId5" Type="http://schemas.openxmlformats.org/officeDocument/2006/relationships/image" Target="../media/image300.png"/><Relationship Id="rId4" Type="http://schemas.openxmlformats.org/officeDocument/2006/relationships/customXml" Target="../ink/ink20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9.png"/><Relationship Id="rId7" Type="http://schemas.openxmlformats.org/officeDocument/2006/relationships/hyperlink" Target="https://expressjs.com/en/resources/middleware.html" TargetMode="External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4.xml"/><Relationship Id="rId5" Type="http://schemas.openxmlformats.org/officeDocument/2006/relationships/image" Target="../media/image300.png"/><Relationship Id="rId4" Type="http://schemas.openxmlformats.org/officeDocument/2006/relationships/customXml" Target="../ink/ink2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7.xml"/><Relationship Id="rId5" Type="http://schemas.openxmlformats.org/officeDocument/2006/relationships/image" Target="../media/image300.png"/><Relationship Id="rId4" Type="http://schemas.openxmlformats.org/officeDocument/2006/relationships/customXml" Target="../ink/ink2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0.xml"/><Relationship Id="rId5" Type="http://schemas.openxmlformats.org/officeDocument/2006/relationships/image" Target="../media/image300.png"/><Relationship Id="rId4" Type="http://schemas.openxmlformats.org/officeDocument/2006/relationships/customXml" Target="../ink/ink29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handlebarsjs.com/" TargetMode="External"/><Relationship Id="rId3" Type="http://schemas.openxmlformats.org/officeDocument/2006/relationships/image" Target="../media/image49.png"/><Relationship Id="rId7" Type="http://schemas.openxmlformats.org/officeDocument/2006/relationships/hyperlink" Target="https://ejs.co/" TargetMode="External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3.xml"/><Relationship Id="rId5" Type="http://schemas.openxmlformats.org/officeDocument/2006/relationships/image" Target="../media/image300.png"/><Relationship Id="rId10" Type="http://schemas.openxmlformats.org/officeDocument/2006/relationships/hyperlink" Target="https://pugjs.org/" TargetMode="External"/><Relationship Id="rId4" Type="http://schemas.openxmlformats.org/officeDocument/2006/relationships/customXml" Target="../ink/ink32.xml"/><Relationship Id="rId9" Type="http://schemas.openxmlformats.org/officeDocument/2006/relationships/hyperlink" Target="https://mustache.github.io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6.xml"/><Relationship Id="rId5" Type="http://schemas.openxmlformats.org/officeDocument/2006/relationships/image" Target="../media/image300.png"/><Relationship Id="rId4" Type="http://schemas.openxmlformats.org/officeDocument/2006/relationships/customXml" Target="../ink/ink3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9.xml"/><Relationship Id="rId5" Type="http://schemas.openxmlformats.org/officeDocument/2006/relationships/image" Target="../media/image300.png"/><Relationship Id="rId4" Type="http://schemas.openxmlformats.org/officeDocument/2006/relationships/customXml" Target="../ink/ink3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2.xml"/><Relationship Id="rId5" Type="http://schemas.openxmlformats.org/officeDocument/2006/relationships/image" Target="../media/image300.png"/><Relationship Id="rId4" Type="http://schemas.openxmlformats.org/officeDocument/2006/relationships/customXml" Target="../ink/ink4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5.xml"/><Relationship Id="rId5" Type="http://schemas.openxmlformats.org/officeDocument/2006/relationships/image" Target="../media/image300.png"/><Relationship Id="rId4" Type="http://schemas.openxmlformats.org/officeDocument/2006/relationships/customXml" Target="../ink/ink44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9.png"/><Relationship Id="rId7" Type="http://schemas.openxmlformats.org/officeDocument/2006/relationships/hyperlink" Target="https://ejs.co/#docs" TargetMode="External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8.xml"/><Relationship Id="rId5" Type="http://schemas.openxmlformats.org/officeDocument/2006/relationships/image" Target="../media/image300.png"/><Relationship Id="rId4" Type="http://schemas.openxmlformats.org/officeDocument/2006/relationships/customXml" Target="../ink/ink4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0362" y="1296161"/>
            <a:ext cx="8006080" cy="1371600"/>
          </a:xfrm>
          <a:prstGeom prst="rect">
            <a:avLst/>
          </a:prstGeom>
          <a:ln w="28575">
            <a:solidFill>
              <a:srgbClr val="B59B0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870"/>
              </a:lnSpc>
            </a:pPr>
            <a:r>
              <a:rPr sz="4400" dirty="0">
                <a:solidFill>
                  <a:srgbClr val="005392"/>
                </a:solidFill>
                <a:latin typeface="Calibri"/>
                <a:cs typeface="Calibri"/>
              </a:rPr>
              <a:t>COM1025:</a:t>
            </a:r>
            <a:r>
              <a:rPr sz="4400" spc="-145" dirty="0">
                <a:solidFill>
                  <a:srgbClr val="005392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005392"/>
                </a:solidFill>
                <a:latin typeface="Calibri"/>
                <a:cs typeface="Calibri"/>
              </a:rPr>
              <a:t>Web</a:t>
            </a:r>
            <a:r>
              <a:rPr sz="4400" spc="-120" dirty="0">
                <a:solidFill>
                  <a:srgbClr val="005392"/>
                </a:solidFill>
                <a:latin typeface="Calibri"/>
                <a:cs typeface="Calibri"/>
              </a:rPr>
              <a:t> </a:t>
            </a:r>
            <a:r>
              <a:rPr sz="4400" spc="-25" dirty="0">
                <a:solidFill>
                  <a:srgbClr val="005392"/>
                </a:solidFill>
                <a:latin typeface="Calibri"/>
                <a:cs typeface="Calibri"/>
              </a:rPr>
              <a:t>and</a:t>
            </a:r>
            <a:endParaRPr sz="4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4400" dirty="0">
                <a:solidFill>
                  <a:srgbClr val="005392"/>
                </a:solidFill>
                <a:latin typeface="Calibri"/>
                <a:cs typeface="Calibri"/>
              </a:rPr>
              <a:t>Database</a:t>
            </a:r>
            <a:r>
              <a:rPr sz="4400" spc="-250" dirty="0">
                <a:solidFill>
                  <a:srgbClr val="005392"/>
                </a:solidFill>
                <a:latin typeface="Calibri"/>
                <a:cs typeface="Calibri"/>
              </a:rPr>
              <a:t> </a:t>
            </a:r>
            <a:r>
              <a:rPr sz="4400" spc="-10" dirty="0">
                <a:solidFill>
                  <a:srgbClr val="005392"/>
                </a:solidFill>
                <a:latin typeface="Calibri"/>
                <a:cs typeface="Calibri"/>
              </a:rPr>
              <a:t>Systems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3204" y="2652001"/>
            <a:ext cx="6845934" cy="3503331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1200150">
              <a:lnSpc>
                <a:spcPct val="100000"/>
              </a:lnSpc>
              <a:spcBef>
                <a:spcPts val="1485"/>
              </a:spcBef>
            </a:pPr>
            <a:r>
              <a:rPr lang="en-GB" sz="3200" dirty="0">
                <a:solidFill>
                  <a:srgbClr val="B59B0C"/>
                </a:solidFill>
                <a:latin typeface="Calibri"/>
                <a:cs typeface="Calibri"/>
              </a:rPr>
              <a:t>The HTTP and Further JavaScript</a:t>
            </a:r>
            <a:endParaRPr lang="en-GB" sz="3200" dirty="0">
              <a:latin typeface="Calibri"/>
              <a:cs typeface="Calibri"/>
            </a:endParaRPr>
          </a:p>
          <a:p>
            <a:pPr marL="1200150" algn="l">
              <a:lnSpc>
                <a:spcPct val="100000"/>
              </a:lnSpc>
              <a:spcBef>
                <a:spcPts val="1485"/>
              </a:spcBef>
            </a:pPr>
            <a:r>
              <a:rPr sz="1400" dirty="0">
                <a:solidFill>
                  <a:srgbClr val="B59B0C"/>
                </a:solidFill>
                <a:latin typeface="Calibri"/>
                <a:cs typeface="Calibri"/>
              </a:rPr>
              <a:t>(Slides</a:t>
            </a:r>
            <a:r>
              <a:rPr sz="1400" spc="-40" dirty="0">
                <a:solidFill>
                  <a:srgbClr val="B59B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59B0C"/>
                </a:solidFill>
                <a:latin typeface="Calibri"/>
                <a:cs typeface="Calibri"/>
              </a:rPr>
              <a:t>credited</a:t>
            </a:r>
            <a:r>
              <a:rPr sz="1400" spc="-25" dirty="0">
                <a:solidFill>
                  <a:srgbClr val="B59B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59B0C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B59B0C"/>
                </a:solidFill>
                <a:latin typeface="Calibri"/>
                <a:cs typeface="Calibri"/>
              </a:rPr>
              <a:t> </a:t>
            </a:r>
            <a:r>
              <a:rPr sz="1400" spc="-45" dirty="0">
                <a:solidFill>
                  <a:srgbClr val="B59B0C"/>
                </a:solidFill>
                <a:latin typeface="Calibri"/>
                <a:cs typeface="Calibri"/>
              </a:rPr>
              <a:t>Dr.</a:t>
            </a:r>
            <a:r>
              <a:rPr sz="1400" spc="-35" dirty="0">
                <a:solidFill>
                  <a:srgbClr val="B59B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59B0C"/>
                </a:solidFill>
                <a:latin typeface="Calibri"/>
                <a:cs typeface="Calibri"/>
              </a:rPr>
              <a:t>Manos</a:t>
            </a:r>
            <a:r>
              <a:rPr sz="1400" spc="-20" dirty="0">
                <a:solidFill>
                  <a:srgbClr val="B59B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59B0C"/>
                </a:solidFill>
                <a:latin typeface="Calibri"/>
                <a:cs typeface="Calibri"/>
              </a:rPr>
              <a:t>Panaousis)</a:t>
            </a:r>
            <a:endParaRPr sz="1400" dirty="0">
              <a:latin typeface="Calibri"/>
              <a:cs typeface="Calibri"/>
            </a:endParaRPr>
          </a:p>
          <a:p>
            <a:pPr marL="12700" marR="4457700">
              <a:lnSpc>
                <a:spcPct val="240000"/>
              </a:lnSpc>
              <a:spcBef>
                <a:spcPts val="345"/>
              </a:spcBef>
            </a:pPr>
            <a:endParaRPr lang="en-GB" sz="2400" spc="-10" dirty="0">
              <a:latin typeface="Calibri"/>
              <a:cs typeface="Calibri"/>
            </a:endParaRPr>
          </a:p>
          <a:p>
            <a:pPr marL="12700" marR="4457700">
              <a:lnSpc>
                <a:spcPct val="240000"/>
              </a:lnSpc>
              <a:spcBef>
                <a:spcPts val="345"/>
              </a:spcBef>
            </a:pPr>
            <a:endParaRPr lang="en-GB" dirty="0"/>
          </a:p>
          <a:p>
            <a:pPr marL="12700" marR="4457700">
              <a:lnSpc>
                <a:spcPct val="240000"/>
              </a:lnSpc>
              <a:spcBef>
                <a:spcPts val="345"/>
              </a:spcBef>
            </a:pPr>
            <a:r>
              <a:rPr sz="2400" spc="-10" dirty="0">
                <a:latin typeface="Calibri"/>
                <a:cs typeface="Calibri"/>
              </a:rPr>
              <a:t>Week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lang="en-GB" sz="2400" spc="-50" dirty="0">
                <a:latin typeface="Calibri"/>
                <a:cs typeface="Calibri"/>
              </a:rPr>
              <a:t>8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6622-E8AD-163C-93D8-A04B34266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842" y="1199528"/>
            <a:ext cx="6446521" cy="490700"/>
          </a:xfrm>
        </p:spPr>
        <p:txBody>
          <a:bodyPr/>
          <a:lstStyle/>
          <a:p>
            <a: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Last Week</a:t>
            </a:r>
            <a:endParaRPr lang="en-US" sz="1800" b="1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6441D00D-90D2-A885-43B0-3A636872E32C}"/>
              </a:ext>
            </a:extLst>
          </p:cNvPr>
          <p:cNvSpPr txBox="1"/>
          <p:nvPr/>
        </p:nvSpPr>
        <p:spPr>
          <a:xfrm>
            <a:off x="718076" y="2681628"/>
            <a:ext cx="7989332" cy="776174"/>
          </a:xfrm>
          <a:prstGeom prst="rect">
            <a:avLst/>
          </a:prstGeom>
        </p:spPr>
        <p:txBody>
          <a:bodyPr vert="horz" wrap="square" lIns="0" tIns="82867" rIns="0" bIns="0" rtlCol="0">
            <a:spAutoFit/>
          </a:bodyPr>
          <a:lstStyle/>
          <a:p>
            <a:pPr marL="352425" indent="-342900">
              <a:spcBef>
                <a:spcPts val="652"/>
              </a:spcBef>
              <a:buFont typeface="Wingdings" panose="05000000000000000000" pitchFamily="2" charset="2"/>
              <a:buChar char="§"/>
              <a:tabLst>
                <a:tab pos="266224" algn="l"/>
                <a:tab pos="266700" algn="l"/>
              </a:tabLst>
            </a:pPr>
            <a:r>
              <a:rPr lang="en-GB" sz="2250" dirty="0">
                <a:solidFill>
                  <a:srgbClr val="404040"/>
                </a:solidFill>
                <a:cs typeface="Calibri"/>
              </a:rPr>
              <a:t>We created some simple JavaScript programs. We ran these programs in the Node.js environment. 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276B48DA-A7DC-80B7-F32F-FDF2D52DC112}"/>
              </a:ext>
            </a:extLst>
          </p:cNvPr>
          <p:cNvSpPr txBox="1"/>
          <p:nvPr/>
        </p:nvSpPr>
        <p:spPr>
          <a:xfrm>
            <a:off x="718075" y="3089203"/>
            <a:ext cx="7989332" cy="1212190"/>
          </a:xfrm>
          <a:prstGeom prst="rect">
            <a:avLst/>
          </a:prstGeom>
        </p:spPr>
        <p:txBody>
          <a:bodyPr vert="horz" wrap="square" lIns="0" tIns="82867" rIns="0" bIns="0" rtlCol="0">
            <a:spAutoFit/>
          </a:bodyPr>
          <a:lstStyle/>
          <a:p>
            <a:pPr marL="9525">
              <a:spcBef>
                <a:spcPts val="652"/>
              </a:spcBef>
              <a:tabLst>
                <a:tab pos="266224" algn="l"/>
                <a:tab pos="266700" algn="l"/>
              </a:tabLst>
            </a:pPr>
            <a:endParaRPr lang="en-GB" sz="2250" dirty="0">
              <a:solidFill>
                <a:srgbClr val="404040"/>
              </a:solidFill>
              <a:cs typeface="Calibri"/>
            </a:endParaRPr>
          </a:p>
          <a:p>
            <a:pPr marL="695325" lvl="1" indent="-342900">
              <a:spcBef>
                <a:spcPts val="652"/>
              </a:spcBef>
              <a:buFont typeface="Wingdings" panose="05000000000000000000" pitchFamily="2" charset="2"/>
              <a:buChar char="§"/>
              <a:tabLst>
                <a:tab pos="266224" algn="l"/>
                <a:tab pos="266700" algn="l"/>
              </a:tabLst>
            </a:pPr>
            <a:r>
              <a:rPr lang="en-GB" sz="2250" dirty="0">
                <a:solidFill>
                  <a:srgbClr val="404040"/>
                </a:solidFill>
                <a:cs typeface="Calibri"/>
              </a:rPr>
              <a:t>However, we did not use any Node.js features. We just used JavaScript features. </a:t>
            </a:r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1E713C91-37D1-8670-66EA-E3A84F7ECAED}"/>
              </a:ext>
            </a:extLst>
          </p:cNvPr>
          <p:cNvSpPr txBox="1"/>
          <p:nvPr/>
        </p:nvSpPr>
        <p:spPr>
          <a:xfrm>
            <a:off x="718077" y="2114315"/>
            <a:ext cx="7989332" cy="429925"/>
          </a:xfrm>
          <a:prstGeom prst="rect">
            <a:avLst/>
          </a:prstGeom>
        </p:spPr>
        <p:txBody>
          <a:bodyPr vert="horz" wrap="square" lIns="0" tIns="82867" rIns="0" bIns="0" rtlCol="0">
            <a:spAutoFit/>
          </a:bodyPr>
          <a:lstStyle/>
          <a:p>
            <a:pPr marL="352425" indent="-342900">
              <a:spcBef>
                <a:spcPts val="652"/>
              </a:spcBef>
              <a:buFont typeface="Wingdings" panose="05000000000000000000" pitchFamily="2" charset="2"/>
              <a:buChar char="§"/>
              <a:tabLst>
                <a:tab pos="266224" algn="l"/>
                <a:tab pos="266700" algn="l"/>
              </a:tabLst>
            </a:pPr>
            <a:r>
              <a:rPr lang="en-GB" sz="2250" dirty="0">
                <a:solidFill>
                  <a:srgbClr val="404040"/>
                </a:solidFill>
                <a:cs typeface="Calibri"/>
              </a:rPr>
              <a:t>We considered the foundations of how the internet works </a:t>
            </a:r>
          </a:p>
        </p:txBody>
      </p:sp>
    </p:spTree>
    <p:extLst>
      <p:ext uri="{BB962C8B-B14F-4D97-AF65-F5344CB8AC3E}">
        <p14:creationId xmlns:p14="http://schemas.microsoft.com/office/powerpoint/2010/main" val="79558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6622-E8AD-163C-93D8-A04B34266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842" y="1199528"/>
            <a:ext cx="6446521" cy="490700"/>
          </a:xfrm>
        </p:spPr>
        <p:txBody>
          <a:bodyPr/>
          <a:lstStyle/>
          <a:p>
            <a: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This Week</a:t>
            </a:r>
            <a:endParaRPr lang="en-US" sz="1800" b="1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6441D00D-90D2-A885-43B0-3A636872E32C}"/>
              </a:ext>
            </a:extLst>
          </p:cNvPr>
          <p:cNvSpPr txBox="1"/>
          <p:nvPr/>
        </p:nvSpPr>
        <p:spPr>
          <a:xfrm>
            <a:off x="734806" y="2231154"/>
            <a:ext cx="7989332" cy="3274293"/>
          </a:xfrm>
          <a:prstGeom prst="rect">
            <a:avLst/>
          </a:prstGeom>
        </p:spPr>
        <p:txBody>
          <a:bodyPr vert="horz" wrap="square" lIns="0" tIns="82867" rIns="0" bIns="0" rtlCol="0">
            <a:spAutoFit/>
          </a:bodyPr>
          <a:lstStyle/>
          <a:p>
            <a:pPr marL="352425" indent="-342900">
              <a:spcBef>
                <a:spcPts val="652"/>
              </a:spcBef>
              <a:buFont typeface="Wingdings" panose="05000000000000000000" pitchFamily="2" charset="2"/>
              <a:buChar char="§"/>
              <a:tabLst>
                <a:tab pos="266224" algn="l"/>
                <a:tab pos="266700" algn="l"/>
              </a:tabLst>
            </a:pPr>
            <a:r>
              <a:rPr lang="en-GB" dirty="0">
                <a:solidFill>
                  <a:srgbClr val="404040"/>
                </a:solidFill>
                <a:cs typeface="Calibri"/>
              </a:rPr>
              <a:t>This week, we will be learning about Node.js features, and why we need them</a:t>
            </a:r>
          </a:p>
          <a:p>
            <a:pPr marL="266700" indent="-257175">
              <a:spcBef>
                <a:spcPts val="652"/>
              </a:spcBef>
              <a:buFont typeface="Arial" panose="020B0604020202020204" pitchFamily="34" charset="0"/>
              <a:buChar char="•"/>
              <a:tabLst>
                <a:tab pos="266224" algn="l"/>
                <a:tab pos="266700" algn="l"/>
              </a:tabLst>
            </a:pPr>
            <a:r>
              <a:rPr lang="en-GB" dirty="0">
                <a:solidFill>
                  <a:srgbClr val="404040"/>
                </a:solidFill>
                <a:cs typeface="Calibri"/>
              </a:rPr>
              <a:t>Specifically, we will consider:</a:t>
            </a:r>
          </a:p>
          <a:p>
            <a:pPr marL="266700" indent="-257175">
              <a:spcBef>
                <a:spcPts val="652"/>
              </a:spcBef>
              <a:buFont typeface="Arial" panose="020B0604020202020204" pitchFamily="34" charset="0"/>
              <a:buChar char="•"/>
              <a:tabLst>
                <a:tab pos="266224" algn="l"/>
                <a:tab pos="266700" algn="l"/>
              </a:tabLst>
            </a:pPr>
            <a:endParaRPr lang="en-GB" dirty="0">
              <a:solidFill>
                <a:srgbClr val="404040"/>
              </a:solidFill>
              <a:cs typeface="Calibri"/>
            </a:endParaRPr>
          </a:p>
          <a:p>
            <a:pPr marL="609600" lvl="1" indent="-257175">
              <a:spcBef>
                <a:spcPts val="652"/>
              </a:spcBef>
              <a:buFont typeface="Wingdings" pitchFamily="2" charset="2"/>
              <a:buChar char="ü"/>
              <a:tabLst>
                <a:tab pos="266224" algn="l"/>
                <a:tab pos="266700" algn="l"/>
              </a:tabLst>
            </a:pPr>
            <a:endParaRPr lang="en-GB" dirty="0">
              <a:solidFill>
                <a:srgbClr val="404040"/>
              </a:solidFill>
              <a:cs typeface="Calibri"/>
            </a:endParaRPr>
          </a:p>
          <a:p>
            <a:pPr marL="609600" lvl="1" indent="-257175">
              <a:spcBef>
                <a:spcPts val="652"/>
              </a:spcBef>
              <a:buFont typeface="Wingdings" pitchFamily="2" charset="2"/>
              <a:buChar char="ü"/>
              <a:tabLst>
                <a:tab pos="266224" algn="l"/>
                <a:tab pos="266700" algn="l"/>
              </a:tabLst>
            </a:pPr>
            <a:r>
              <a:rPr lang="en-GB" dirty="0">
                <a:solidFill>
                  <a:srgbClr val="404040"/>
                </a:solidFill>
                <a:cs typeface="Calibri"/>
              </a:rPr>
              <a:t>How to create simple web applications </a:t>
            </a:r>
          </a:p>
          <a:p>
            <a:pPr marL="609600" lvl="1" indent="-257175">
              <a:spcBef>
                <a:spcPts val="652"/>
              </a:spcBef>
              <a:buFont typeface="Wingdings" pitchFamily="2" charset="2"/>
              <a:buChar char="ü"/>
              <a:tabLst>
                <a:tab pos="266224" algn="l"/>
                <a:tab pos="266700" algn="l"/>
              </a:tabLst>
            </a:pPr>
            <a:r>
              <a:rPr lang="en-GB" dirty="0">
                <a:solidFill>
                  <a:srgbClr val="404040"/>
                </a:solidFill>
                <a:cs typeface="Calibri"/>
              </a:rPr>
              <a:t>Using templating languages </a:t>
            </a:r>
          </a:p>
          <a:p>
            <a:pPr marL="609600" lvl="1" indent="-257175">
              <a:spcBef>
                <a:spcPts val="652"/>
              </a:spcBef>
              <a:buFont typeface="Wingdings" pitchFamily="2" charset="2"/>
              <a:buChar char="ü"/>
              <a:tabLst>
                <a:tab pos="266224" algn="l"/>
                <a:tab pos="266700" algn="l"/>
              </a:tabLst>
            </a:pPr>
            <a:r>
              <a:rPr lang="en-GB" dirty="0">
                <a:solidFill>
                  <a:srgbClr val="404040"/>
                </a:solidFill>
                <a:cs typeface="Calibri"/>
              </a:rPr>
              <a:t>Using a package manager</a:t>
            </a:r>
          </a:p>
          <a:p>
            <a:pPr marL="609600" lvl="1" indent="-257175">
              <a:spcBef>
                <a:spcPts val="652"/>
              </a:spcBef>
              <a:buFont typeface="Wingdings" pitchFamily="2" charset="2"/>
              <a:buChar char="ü"/>
              <a:tabLst>
                <a:tab pos="266224" algn="l"/>
                <a:tab pos="266700" algn="l"/>
              </a:tabLst>
            </a:pPr>
            <a:r>
              <a:rPr lang="en-GB" dirty="0">
                <a:solidFill>
                  <a:srgbClr val="404040"/>
                </a:solidFill>
                <a:cs typeface="Calibri"/>
              </a:rPr>
              <a:t>Using a </a:t>
            </a:r>
            <a:r>
              <a:rPr lang="en-GB" sz="2250" dirty="0">
                <a:solidFill>
                  <a:srgbClr val="404040"/>
                </a:solidFill>
                <a:cs typeface="Calibri"/>
              </a:rPr>
              <a:t>web</a:t>
            </a:r>
            <a:r>
              <a:rPr lang="en-GB" dirty="0">
                <a:solidFill>
                  <a:srgbClr val="404040"/>
                </a:solidFill>
                <a:cs typeface="Calibri"/>
              </a:rPr>
              <a:t> framework  </a:t>
            </a:r>
          </a:p>
        </p:txBody>
      </p:sp>
    </p:spTree>
    <p:extLst>
      <p:ext uri="{BB962C8B-B14F-4D97-AF65-F5344CB8AC3E}">
        <p14:creationId xmlns:p14="http://schemas.microsoft.com/office/powerpoint/2010/main" val="1182673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2850" y="2082546"/>
            <a:ext cx="164083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0" dirty="0"/>
              <a:t>HTTP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  <p:pic>
        <p:nvPicPr>
          <p:cNvPr id="9" name="Picture 8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EEFAFB04-B877-5F96-F5E8-F4CA835B1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168400"/>
            <a:ext cx="4071292" cy="3403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7EA2F4-CE9B-6F80-DB67-3BE1C4D15EC2}"/>
              </a:ext>
            </a:extLst>
          </p:cNvPr>
          <p:cNvSpPr txBox="1"/>
          <p:nvPr/>
        </p:nvSpPr>
        <p:spPr>
          <a:xfrm>
            <a:off x="2235463" y="5037657"/>
            <a:ext cx="4673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Visit: https://http-server-</a:t>
            </a:r>
            <a:r>
              <a:rPr lang="en-GB" dirty="0" err="1"/>
              <a:t>leqm.onrender.com</a:t>
            </a:r>
            <a:r>
              <a:rPr lang="en-GB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9996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HTTP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723770"/>
            <a:ext cx="8291195" cy="43300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998855" indent="-342900">
              <a:lnSpc>
                <a:spcPts val="2380"/>
              </a:lnSpc>
              <a:spcBef>
                <a:spcPts val="390"/>
              </a:spcBef>
              <a:buFont typeface="Wingdings"/>
              <a:buChar char=""/>
              <a:tabLst>
                <a:tab pos="355600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Hypertext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Transfer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Protocol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(HTTP)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2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designed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enable communications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between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clients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servers.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HTTP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two-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party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communication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protocol:</a:t>
            </a:r>
            <a:endParaRPr sz="2200">
              <a:latin typeface="Calibri"/>
              <a:cs typeface="Calibri"/>
            </a:endParaRPr>
          </a:p>
          <a:p>
            <a:pPr marL="862965" lvl="1" indent="-393065">
              <a:lnSpc>
                <a:spcPts val="2280"/>
              </a:lnSpc>
              <a:spcBef>
                <a:spcPts val="245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Party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client</a:t>
            </a:r>
            <a:r>
              <a:rPr sz="20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@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Computer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1: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browser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(also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called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“user</a:t>
            </a:r>
            <a:endParaRPr sz="2000">
              <a:latin typeface="Calibri"/>
              <a:cs typeface="Calibri"/>
            </a:endParaRPr>
          </a:p>
          <a:p>
            <a:pPr marL="862965">
              <a:lnSpc>
                <a:spcPts val="228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agent”)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requests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pages</a:t>
            </a:r>
            <a:endParaRPr sz="2000">
              <a:latin typeface="Calibri"/>
              <a:cs typeface="Calibri"/>
            </a:endParaRPr>
          </a:p>
          <a:p>
            <a:pPr marL="862965" marR="5080" lvl="1" indent="-393700">
              <a:lnSpc>
                <a:spcPts val="2160"/>
              </a:lnSpc>
              <a:spcBef>
                <a:spcPts val="515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Party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server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@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Computer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2: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program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handles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requests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pages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multiple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clients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Steps:</a:t>
            </a:r>
            <a:endParaRPr sz="22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25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client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submits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HTTP</a:t>
            </a:r>
            <a:r>
              <a:rPr sz="2000" b="1" u="sng" spc="-5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request</a:t>
            </a:r>
            <a:r>
              <a:rPr sz="20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server.</a:t>
            </a:r>
            <a:endParaRPr sz="20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24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returns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HTTP</a:t>
            </a:r>
            <a:r>
              <a:rPr sz="2000" b="1" u="sng" spc="-6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response</a:t>
            </a:r>
            <a:r>
              <a:rPr sz="20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client.</a:t>
            </a:r>
            <a:endParaRPr sz="20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24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contains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status</a:t>
            </a:r>
            <a:r>
              <a:rPr sz="2000" u="sng" spc="-3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0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information</a:t>
            </a:r>
            <a:r>
              <a:rPr sz="2000" spc="-30" dirty="0">
                <a:solidFill>
                  <a:srgbClr val="0099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request</a:t>
            </a:r>
            <a:endParaRPr sz="2000">
              <a:latin typeface="Calibri"/>
              <a:cs typeface="Calibri"/>
            </a:endParaRPr>
          </a:p>
          <a:p>
            <a:pPr marL="98361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contain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requested</a:t>
            </a:r>
            <a:r>
              <a:rPr sz="20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content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59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HTTP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uses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Transmission</a:t>
            </a:r>
            <a:r>
              <a:rPr sz="2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Control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Protocol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(TCP)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Web</a:t>
            </a:r>
            <a:r>
              <a:rPr spc="-30" dirty="0"/>
              <a:t> </a:t>
            </a:r>
            <a:r>
              <a:rPr dirty="0"/>
              <a:t>browser</a:t>
            </a:r>
            <a:r>
              <a:rPr spc="-25" dirty="0"/>
              <a:t> </a:t>
            </a:r>
            <a:r>
              <a:rPr dirty="0"/>
              <a:t>vs.</a:t>
            </a:r>
            <a:r>
              <a:rPr spc="-25" dirty="0"/>
              <a:t> </a:t>
            </a:r>
            <a:r>
              <a:rPr dirty="0"/>
              <a:t>Web</a:t>
            </a:r>
            <a:r>
              <a:rPr spc="-30" dirty="0"/>
              <a:t> </a:t>
            </a:r>
            <a:r>
              <a:rPr dirty="0"/>
              <a:t>(HTTP)</a:t>
            </a:r>
            <a:r>
              <a:rPr spc="-50" dirty="0"/>
              <a:t> </a:t>
            </a:r>
            <a:r>
              <a:rPr spc="-10" dirty="0"/>
              <a:t>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384757"/>
            <a:ext cx="8231505" cy="4962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program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running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side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normally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called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server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HTTP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server</a:t>
            </a:r>
            <a:endParaRPr sz="2400" dirty="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545"/>
              </a:spcBef>
              <a:buSzPct val="88636"/>
              <a:buFont typeface="Wingdings"/>
              <a:buChar char=""/>
              <a:tabLst>
                <a:tab pos="862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Two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widely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(HTTP)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servers</a:t>
            </a:r>
            <a:endParaRPr sz="2200" dirty="0">
              <a:latin typeface="Calibri"/>
              <a:cs typeface="Calibri"/>
            </a:endParaRPr>
          </a:p>
          <a:p>
            <a:pPr marL="1259205" lvl="2" indent="-332105">
              <a:lnSpc>
                <a:spcPct val="100000"/>
              </a:lnSpc>
              <a:spcBef>
                <a:spcPts val="490"/>
              </a:spcBef>
              <a:buSzPct val="80000"/>
              <a:buFont typeface="Wingdings"/>
              <a:buChar char=""/>
              <a:tabLst>
                <a:tab pos="1259205" algn="l"/>
              </a:tabLst>
            </a:pPr>
            <a:r>
              <a:rPr sz="20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Apache</a:t>
            </a:r>
            <a:r>
              <a:rPr sz="2000" b="1" u="sng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HTTP</a:t>
            </a:r>
            <a:r>
              <a:rPr sz="2000" b="1" u="sng" spc="-5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Server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cross-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platform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our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labs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endParaRPr sz="2000" dirty="0">
              <a:latin typeface="Calibri"/>
              <a:cs typeface="Calibri"/>
            </a:endParaRPr>
          </a:p>
          <a:p>
            <a:pPr marL="1259205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coursework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Microsoft</a:t>
            </a:r>
            <a:r>
              <a:rPr sz="2000" b="1" u="sng" spc="-6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IIS</a:t>
            </a:r>
            <a:r>
              <a:rPr sz="20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(Internet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Services,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formerly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known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as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Internet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Server):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Windows</a:t>
            </a:r>
            <a:r>
              <a:rPr sz="20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platforms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endParaRPr lang="en-GB" sz="2000" spc="-2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1259205" marR="410845" lvl="2" indent="-332740">
              <a:spcBef>
                <a:spcPts val="480"/>
              </a:spcBef>
              <a:buSzPct val="80000"/>
              <a:buFont typeface="Wingdings"/>
              <a:buChar char=""/>
              <a:tabLst>
                <a:tab pos="1259205" algn="l"/>
              </a:tabLst>
            </a:pPr>
            <a:r>
              <a:rPr lang="en-GB" sz="2000" b="1" spc="-20" dirty="0">
                <a:solidFill>
                  <a:srgbClr val="404040"/>
                </a:solidFill>
                <a:latin typeface="Calibri"/>
                <a:cs typeface="Calibri"/>
              </a:rPr>
              <a:t>NodeJS </a:t>
            </a:r>
            <a:r>
              <a:rPr lang="en-GB" sz="2000" dirty="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lang="en-GB" sz="2000" dirty="0">
                <a:solidFill>
                  <a:srgbClr val="0000FF"/>
                </a:solidFill>
                <a:latin typeface="Calibri"/>
                <a:cs typeface="Calibri"/>
              </a:rPr>
              <a:t>We</a:t>
            </a:r>
            <a:r>
              <a:rPr lang="en-GB" sz="2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alibri"/>
                <a:cs typeface="Calibri"/>
              </a:rPr>
              <a:t>will</a:t>
            </a:r>
            <a:r>
              <a:rPr lang="en-GB" sz="2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alibri"/>
                <a:cs typeface="Calibri"/>
              </a:rPr>
              <a:t>use</a:t>
            </a:r>
            <a:r>
              <a:rPr lang="en-GB" sz="2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alibri"/>
                <a:cs typeface="Calibri"/>
              </a:rPr>
              <a:t>this</a:t>
            </a:r>
            <a:r>
              <a:rPr lang="en-GB" sz="2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lang="en-GB" sz="2000" spc="-20" dirty="0">
                <a:solidFill>
                  <a:srgbClr val="0000FF"/>
                </a:solidFill>
                <a:latin typeface="Calibri"/>
                <a:cs typeface="Calibri"/>
              </a:rPr>
              <a:t>one</a:t>
            </a:r>
            <a:r>
              <a:rPr lang="en-GB" sz="2000" spc="-20" dirty="0">
                <a:solidFill>
                  <a:srgbClr val="404040"/>
                </a:solidFill>
                <a:latin typeface="Calibri"/>
                <a:cs typeface="Calibri"/>
              </a:rPr>
              <a:t>)</a:t>
            </a:r>
            <a:endParaRPr sz="2000" b="1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2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Security?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secure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edition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HTTPS</a:t>
            </a:r>
            <a:r>
              <a:rPr sz="2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(HTTP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Secure)</a:t>
            </a:r>
            <a:endParaRPr sz="2400" dirty="0">
              <a:latin typeface="Calibri"/>
              <a:cs typeface="Calibri"/>
            </a:endParaRPr>
          </a:p>
          <a:p>
            <a:pPr marL="862965" marR="71755" lvl="1" indent="-393700">
              <a:lnSpc>
                <a:spcPct val="100000"/>
              </a:lnSpc>
              <a:spcBef>
                <a:spcPts val="550"/>
              </a:spcBef>
              <a:buSzPct val="88636"/>
              <a:buFont typeface="Wingdings"/>
              <a:buChar char=""/>
              <a:tabLst>
                <a:tab pos="862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HTTPS allows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both </a:t>
            </a:r>
            <a:r>
              <a:rPr sz="2200" spc="-10" dirty="0">
                <a:solidFill>
                  <a:srgbClr val="0000FF"/>
                </a:solidFill>
                <a:latin typeface="Calibri"/>
                <a:cs typeface="Calibri"/>
              </a:rPr>
              <a:t>end-</a:t>
            </a:r>
            <a:r>
              <a:rPr sz="2200" spc="-20" dirty="0">
                <a:solidFill>
                  <a:srgbClr val="0000FF"/>
                </a:solidFill>
                <a:latin typeface="Calibri"/>
                <a:cs typeface="Calibri"/>
              </a:rPr>
              <a:t>to-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end</a:t>
            </a:r>
            <a:r>
              <a:rPr sz="22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encryption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communications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between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browser,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also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server/client</a:t>
            </a:r>
            <a:r>
              <a:rPr sz="2200" spc="-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authentication</a:t>
            </a:r>
            <a:endParaRPr sz="2200" dirty="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530"/>
              </a:spcBef>
              <a:buSzPct val="88636"/>
              <a:buFont typeface="Wingdings"/>
              <a:buChar char=""/>
              <a:tabLst>
                <a:tab pos="862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uses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cryptographic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protocol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called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TLS/SSL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2743200"/>
            <a:ext cx="1010412" cy="304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3352800"/>
            <a:ext cx="1069848" cy="228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From</a:t>
            </a:r>
            <a:r>
              <a:rPr spc="-45" dirty="0"/>
              <a:t> </a:t>
            </a:r>
            <a:r>
              <a:rPr dirty="0"/>
              <a:t>static</a:t>
            </a:r>
            <a:r>
              <a:rPr spc="-2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dynamic</a:t>
            </a:r>
            <a:r>
              <a:rPr spc="-50" dirty="0"/>
              <a:t> </a:t>
            </a:r>
            <a:r>
              <a:rPr dirty="0"/>
              <a:t>web</a:t>
            </a:r>
            <a:r>
              <a:rPr spc="-30" dirty="0"/>
              <a:t> </a:t>
            </a:r>
            <a:r>
              <a:rPr spc="-10" dirty="0"/>
              <a:t>pages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671954"/>
            <a:ext cx="4755515" cy="2732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6614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requested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page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not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necessarily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static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server-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side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program/script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residing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web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endParaRPr sz="2400">
              <a:latin typeface="Calibri"/>
              <a:cs typeface="Calibri"/>
            </a:endParaRPr>
          </a:p>
          <a:p>
            <a:pPr marL="355600" marR="1184910" indent="-342900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Why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dynamic programs/scripts?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4382871"/>
            <a:ext cx="2919095" cy="1489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580"/>
              </a:spcBef>
              <a:buSzPct val="90000"/>
              <a:buFont typeface="Wingdings"/>
              <a:buChar char=""/>
              <a:tabLst>
                <a:tab pos="4057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Handle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dynamic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405765" indent="-393065">
              <a:lnSpc>
                <a:spcPct val="100000"/>
              </a:lnSpc>
              <a:spcBef>
                <a:spcPts val="480"/>
              </a:spcBef>
              <a:buSzPct val="90000"/>
              <a:buFont typeface="Wingdings"/>
              <a:buChar char=""/>
              <a:tabLst>
                <a:tab pos="4057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Interact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users.</a:t>
            </a:r>
            <a:endParaRPr sz="2000">
              <a:latin typeface="Calibri"/>
              <a:cs typeface="Calibri"/>
            </a:endParaRPr>
          </a:p>
          <a:p>
            <a:pPr marL="405765" indent="-393065">
              <a:lnSpc>
                <a:spcPct val="100000"/>
              </a:lnSpc>
              <a:spcBef>
                <a:spcPts val="480"/>
              </a:spcBef>
              <a:buSzPct val="90000"/>
              <a:buFont typeface="Wingdings"/>
              <a:buChar char=""/>
              <a:tabLst>
                <a:tab pos="4057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less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code!</a:t>
            </a:r>
            <a:endParaRPr sz="2000">
              <a:latin typeface="Calibri"/>
              <a:cs typeface="Calibri"/>
            </a:endParaRPr>
          </a:p>
          <a:p>
            <a:pPr marL="405765" indent="-393065">
              <a:lnSpc>
                <a:spcPct val="100000"/>
              </a:lnSpc>
              <a:spcBef>
                <a:spcPts val="480"/>
              </a:spcBef>
              <a:buSzPct val="90000"/>
              <a:buFont typeface="Wingdings"/>
              <a:buChar char=""/>
              <a:tabLst>
                <a:tab pos="405765" algn="l"/>
              </a:tabLst>
            </a:pP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…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52008" y="3551935"/>
            <a:ext cx="7346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0000"/>
                </a:solidFill>
                <a:latin typeface="Arial"/>
                <a:cs typeface="Arial"/>
              </a:rPr>
              <a:t>URL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67400" y="1447800"/>
            <a:ext cx="2382520" cy="5049520"/>
            <a:chOff x="5867400" y="1447800"/>
            <a:chExt cx="2382520" cy="50495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600" y="1447800"/>
              <a:ext cx="1289303" cy="15438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7400" y="4114800"/>
              <a:ext cx="2382011" cy="23820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8400" y="4724400"/>
              <a:ext cx="533400" cy="5334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8761" y="3217926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228600" y="0"/>
                  </a:moveTo>
                  <a:lnTo>
                    <a:pt x="76200" y="0"/>
                  </a:lnTo>
                  <a:lnTo>
                    <a:pt x="76200" y="990600"/>
                  </a:lnTo>
                  <a:lnTo>
                    <a:pt x="0" y="990600"/>
                  </a:lnTo>
                  <a:lnTo>
                    <a:pt x="152400" y="1143000"/>
                  </a:lnTo>
                  <a:lnTo>
                    <a:pt x="304800" y="990600"/>
                  </a:lnTo>
                  <a:lnTo>
                    <a:pt x="228600" y="990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8761" y="3217926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0" y="990600"/>
                  </a:moveTo>
                  <a:lnTo>
                    <a:pt x="76200" y="99060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990600"/>
                  </a:lnTo>
                  <a:lnTo>
                    <a:pt x="304800" y="990600"/>
                  </a:lnTo>
                  <a:lnTo>
                    <a:pt x="152400" y="1143000"/>
                  </a:lnTo>
                  <a:lnTo>
                    <a:pt x="0" y="99060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01562" y="3217926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152399" y="0"/>
                  </a:moveTo>
                  <a:lnTo>
                    <a:pt x="0" y="152400"/>
                  </a:lnTo>
                  <a:lnTo>
                    <a:pt x="76200" y="152400"/>
                  </a:lnTo>
                  <a:lnTo>
                    <a:pt x="76200" y="1143000"/>
                  </a:lnTo>
                  <a:lnTo>
                    <a:pt x="228599" y="1143000"/>
                  </a:lnTo>
                  <a:lnTo>
                    <a:pt x="228599" y="152400"/>
                  </a:lnTo>
                  <a:lnTo>
                    <a:pt x="304799" y="152400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01562" y="3217926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0" y="152400"/>
                  </a:moveTo>
                  <a:lnTo>
                    <a:pt x="152399" y="0"/>
                  </a:lnTo>
                  <a:lnTo>
                    <a:pt x="304799" y="152400"/>
                  </a:lnTo>
                  <a:lnTo>
                    <a:pt x="228599" y="152400"/>
                  </a:lnTo>
                  <a:lnTo>
                    <a:pt x="228599" y="1143000"/>
                  </a:lnTo>
                  <a:lnTo>
                    <a:pt x="76200" y="1143000"/>
                  </a:lnTo>
                  <a:lnTo>
                    <a:pt x="76200" y="15240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174738" y="3182492"/>
            <a:ext cx="1424940" cy="1185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  <a:latin typeface="Arial"/>
                <a:cs typeface="Arial"/>
              </a:rPr>
              <a:t>HTTP(S)</a:t>
            </a:r>
            <a:endParaRPr sz="2800">
              <a:latin typeface="Arial"/>
              <a:cs typeface="Arial"/>
            </a:endParaRPr>
          </a:p>
          <a:p>
            <a:pPr marL="408305" marR="398780" algn="ctr">
              <a:lnSpc>
                <a:spcPct val="100000"/>
              </a:lnSpc>
              <a:spcBef>
                <a:spcPts val="15"/>
              </a:spcBef>
            </a:pPr>
            <a:r>
              <a:rPr sz="2400" spc="-25" dirty="0">
                <a:solidFill>
                  <a:srgbClr val="7E7E7E"/>
                </a:solidFill>
                <a:latin typeface="Arial"/>
                <a:cs typeface="Arial"/>
              </a:rPr>
              <a:t>TCP IP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86600" y="1828800"/>
            <a:ext cx="1447800" cy="1447800"/>
            <a:chOff x="7086600" y="1828800"/>
            <a:chExt cx="1447800" cy="1447800"/>
          </a:xfrm>
        </p:grpSpPr>
        <p:pic>
          <p:nvPicPr>
            <p:cNvPr id="16" name="object 16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79564" y="2010155"/>
              <a:ext cx="990600" cy="961644"/>
            </a:xfrm>
            <a:prstGeom prst="rect">
              <a:avLst/>
            </a:prstGeom>
          </p:spPr>
        </p:pic>
        <p:pic>
          <p:nvPicPr>
            <p:cNvPr id="17" name="object 17">
              <a:hlinkClick r:id="rId5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86600" y="1828800"/>
              <a:ext cx="1447800" cy="14478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456678" y="1246378"/>
            <a:ext cx="15474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Server-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side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Program/Script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762" y="1447800"/>
            <a:ext cx="9163050" cy="5420995"/>
            <a:chOff x="-8762" y="1447800"/>
            <a:chExt cx="9163050" cy="5420995"/>
          </a:xfrm>
        </p:grpSpPr>
        <p:sp>
          <p:nvSpPr>
            <p:cNvPr id="3" name="object 3"/>
            <p:cNvSpPr/>
            <p:nvPr/>
          </p:nvSpPr>
          <p:spPr>
            <a:xfrm>
              <a:off x="762" y="6477761"/>
              <a:ext cx="9144000" cy="381000"/>
            </a:xfrm>
            <a:custGeom>
              <a:avLst/>
              <a:gdLst/>
              <a:ahLst/>
              <a:cxnLst/>
              <a:rect l="l" t="t" r="r" b="b"/>
              <a:pathLst>
                <a:path w="9144000" h="381000">
                  <a:moveTo>
                    <a:pt x="9144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9144000" y="381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5392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2" y="6477761"/>
              <a:ext cx="9144000" cy="381000"/>
            </a:xfrm>
            <a:custGeom>
              <a:avLst/>
              <a:gdLst/>
              <a:ahLst/>
              <a:cxnLst/>
              <a:rect l="l" t="t" r="r" b="b"/>
              <a:pathLst>
                <a:path w="9144000" h="381000">
                  <a:moveTo>
                    <a:pt x="0" y="381000"/>
                  </a:moveTo>
                  <a:lnTo>
                    <a:pt x="9144000" y="3810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53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600" y="1447800"/>
              <a:ext cx="1289303" cy="15438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7400" y="4114800"/>
              <a:ext cx="2382011" cy="23820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8400" y="4724400"/>
              <a:ext cx="533400" cy="5334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58762" y="3217926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228600" y="0"/>
                  </a:moveTo>
                  <a:lnTo>
                    <a:pt x="76200" y="0"/>
                  </a:lnTo>
                  <a:lnTo>
                    <a:pt x="76200" y="990600"/>
                  </a:lnTo>
                  <a:lnTo>
                    <a:pt x="0" y="990600"/>
                  </a:lnTo>
                  <a:lnTo>
                    <a:pt x="152400" y="1143000"/>
                  </a:lnTo>
                  <a:lnTo>
                    <a:pt x="304800" y="990600"/>
                  </a:lnTo>
                  <a:lnTo>
                    <a:pt x="228600" y="990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8762" y="3217926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0" y="990600"/>
                  </a:moveTo>
                  <a:lnTo>
                    <a:pt x="76200" y="990600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990600"/>
                  </a:lnTo>
                  <a:lnTo>
                    <a:pt x="304800" y="990600"/>
                  </a:lnTo>
                  <a:lnTo>
                    <a:pt x="152400" y="1143000"/>
                  </a:lnTo>
                  <a:lnTo>
                    <a:pt x="0" y="99060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1562" y="3217926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152399" y="0"/>
                  </a:moveTo>
                  <a:lnTo>
                    <a:pt x="0" y="152400"/>
                  </a:lnTo>
                  <a:lnTo>
                    <a:pt x="76200" y="152400"/>
                  </a:lnTo>
                  <a:lnTo>
                    <a:pt x="76200" y="1143000"/>
                  </a:lnTo>
                  <a:lnTo>
                    <a:pt x="228599" y="1143000"/>
                  </a:lnTo>
                  <a:lnTo>
                    <a:pt x="228599" y="152400"/>
                  </a:lnTo>
                  <a:lnTo>
                    <a:pt x="304799" y="152400"/>
                  </a:lnTo>
                  <a:lnTo>
                    <a:pt x="152399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01562" y="3217926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0" y="152400"/>
                  </a:moveTo>
                  <a:lnTo>
                    <a:pt x="152399" y="0"/>
                  </a:lnTo>
                  <a:lnTo>
                    <a:pt x="304799" y="152400"/>
                  </a:lnTo>
                  <a:lnTo>
                    <a:pt x="228599" y="152400"/>
                  </a:lnTo>
                  <a:lnTo>
                    <a:pt x="228599" y="1143000"/>
                  </a:lnTo>
                  <a:lnTo>
                    <a:pt x="76200" y="1143000"/>
                  </a:lnTo>
                  <a:lnTo>
                    <a:pt x="76200" y="15240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15200" y="457200"/>
            <a:ext cx="1524000" cy="45262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28600" y="1028700"/>
            <a:ext cx="8648700" cy="76200"/>
          </a:xfrm>
          <a:custGeom>
            <a:avLst/>
            <a:gdLst/>
            <a:ahLst/>
            <a:cxnLst/>
            <a:rect l="l" t="t" r="r" b="b"/>
            <a:pathLst>
              <a:path w="8648700" h="76200">
                <a:moveTo>
                  <a:pt x="8610600" y="0"/>
                </a:moveTo>
                <a:lnTo>
                  <a:pt x="8595752" y="2988"/>
                </a:lnTo>
                <a:lnTo>
                  <a:pt x="8583644" y="11144"/>
                </a:lnTo>
                <a:lnTo>
                  <a:pt x="8575488" y="23252"/>
                </a:lnTo>
                <a:lnTo>
                  <a:pt x="8572500" y="38100"/>
                </a:lnTo>
                <a:lnTo>
                  <a:pt x="8575488" y="52947"/>
                </a:lnTo>
                <a:lnTo>
                  <a:pt x="8583644" y="65055"/>
                </a:lnTo>
                <a:lnTo>
                  <a:pt x="8595752" y="73211"/>
                </a:lnTo>
                <a:lnTo>
                  <a:pt x="8610600" y="76200"/>
                </a:lnTo>
                <a:lnTo>
                  <a:pt x="8625447" y="73211"/>
                </a:lnTo>
                <a:lnTo>
                  <a:pt x="8637555" y="65055"/>
                </a:lnTo>
                <a:lnTo>
                  <a:pt x="8645711" y="52947"/>
                </a:lnTo>
                <a:lnTo>
                  <a:pt x="8647421" y="44450"/>
                </a:lnTo>
                <a:lnTo>
                  <a:pt x="8610600" y="44450"/>
                </a:lnTo>
                <a:lnTo>
                  <a:pt x="8610600" y="31750"/>
                </a:lnTo>
                <a:lnTo>
                  <a:pt x="8647421" y="31750"/>
                </a:lnTo>
                <a:lnTo>
                  <a:pt x="8645711" y="23252"/>
                </a:lnTo>
                <a:lnTo>
                  <a:pt x="8637555" y="11144"/>
                </a:lnTo>
                <a:lnTo>
                  <a:pt x="8625447" y="2988"/>
                </a:lnTo>
                <a:lnTo>
                  <a:pt x="8610600" y="0"/>
                </a:lnTo>
                <a:close/>
              </a:path>
              <a:path w="8648700" h="76200">
                <a:moveTo>
                  <a:pt x="857377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573778" y="44450"/>
                </a:lnTo>
                <a:lnTo>
                  <a:pt x="8572500" y="38100"/>
                </a:lnTo>
                <a:lnTo>
                  <a:pt x="8573778" y="31750"/>
                </a:lnTo>
                <a:close/>
              </a:path>
              <a:path w="8648700" h="76200">
                <a:moveTo>
                  <a:pt x="8647421" y="31750"/>
                </a:moveTo>
                <a:lnTo>
                  <a:pt x="8610600" y="31750"/>
                </a:lnTo>
                <a:lnTo>
                  <a:pt x="8610600" y="44450"/>
                </a:lnTo>
                <a:lnTo>
                  <a:pt x="8647421" y="44450"/>
                </a:lnTo>
                <a:lnTo>
                  <a:pt x="8648700" y="38100"/>
                </a:lnTo>
                <a:lnTo>
                  <a:pt x="8647421" y="31750"/>
                </a:lnTo>
                <a:close/>
              </a:path>
            </a:pathLst>
          </a:custGeom>
          <a:solidFill>
            <a:srgbClr val="B59B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Request</a:t>
            </a:r>
            <a:r>
              <a:rPr spc="-4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dynamic</a:t>
            </a:r>
            <a:r>
              <a:rPr spc="-45" dirty="0"/>
              <a:t> </a:t>
            </a:r>
            <a:r>
              <a:rPr dirty="0"/>
              <a:t>web</a:t>
            </a:r>
            <a:r>
              <a:rPr spc="-30" dirty="0"/>
              <a:t> </a:t>
            </a:r>
            <a:r>
              <a:rPr spc="-20" dirty="0"/>
              <a:t>page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31140" y="1162247"/>
            <a:ext cx="4230370" cy="20720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Symbol"/>
                <a:cs typeface="Symbol"/>
              </a:rPr>
              <a:t></a:t>
            </a:r>
            <a:r>
              <a:rPr sz="2400" spc="-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browser</a:t>
            </a:r>
            <a:endParaRPr sz="24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49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URL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  <a:hlinkClick r:id="rId6"/>
              </a:rPr>
              <a:t>http://...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optionally</a:t>
            </a:r>
            <a:r>
              <a:rPr sz="20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+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browser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Symbol"/>
                <a:cs typeface="Symbol"/>
              </a:rPr>
              <a:t></a:t>
            </a:r>
            <a:r>
              <a:rPr sz="240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endParaRPr sz="24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484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URL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  <a:hlinkClick r:id="rId6"/>
              </a:rPr>
              <a:t>http://...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optionally</a:t>
            </a:r>
            <a:r>
              <a:rPr sz="20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+</a:t>
            </a:r>
            <a:r>
              <a:rPr sz="20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server: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8340" y="3218154"/>
            <a:ext cx="4405630" cy="105600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555"/>
              </a:spcBef>
              <a:buSzPct val="90000"/>
              <a:buFont typeface="Wingdings"/>
              <a:buChar char=""/>
              <a:tabLst>
                <a:tab pos="4057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URL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Symbol"/>
                <a:cs typeface="Symbol"/>
              </a:rPr>
              <a:t></a:t>
            </a:r>
            <a:r>
              <a:rPr sz="20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Local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file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path</a:t>
            </a:r>
            <a:endParaRPr sz="2000">
              <a:latin typeface="Calibri"/>
              <a:cs typeface="Calibri"/>
            </a:endParaRPr>
          </a:p>
          <a:p>
            <a:pPr marL="405765" indent="-393065">
              <a:lnSpc>
                <a:spcPct val="100000"/>
              </a:lnSpc>
              <a:spcBef>
                <a:spcPts val="455"/>
              </a:spcBef>
              <a:buSzPct val="90000"/>
              <a:buFont typeface="Wingdings"/>
              <a:buChar char=""/>
              <a:tabLst>
                <a:tab pos="405765" algn="l"/>
              </a:tabLst>
            </a:pP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Execute</a:t>
            </a:r>
            <a:r>
              <a:rPr sz="20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local</a:t>
            </a:r>
            <a:r>
              <a:rPr sz="20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file</a:t>
            </a:r>
            <a:r>
              <a:rPr sz="2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sz="20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program</a:t>
            </a:r>
            <a:r>
              <a:rPr sz="20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405765">
              <a:lnSpc>
                <a:spcPct val="100000"/>
              </a:lnSpc>
            </a:pP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record</a:t>
            </a:r>
            <a:r>
              <a:rPr sz="20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output</a:t>
            </a:r>
            <a:r>
              <a:rPr sz="20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(HTML</a:t>
            </a:r>
            <a:r>
              <a:rPr sz="20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code)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1140" y="4248296"/>
            <a:ext cx="5166995" cy="19405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4965" algn="l"/>
                <a:tab pos="191897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400" dirty="0">
                <a:solidFill>
                  <a:srgbClr val="404040"/>
                </a:solidFill>
                <a:latin typeface="Symbol"/>
                <a:cs typeface="Symbol"/>
              </a:rPr>
              <a:t></a:t>
            </a:r>
            <a:r>
              <a:rPr sz="2400" spc="-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browser</a:t>
            </a:r>
            <a:endParaRPr sz="24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48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HTML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code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generated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above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browser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Symbol"/>
                <a:cs typeface="Symbol"/>
              </a:rPr>
              <a:t></a:t>
            </a:r>
            <a:r>
              <a:rPr sz="240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endParaRPr sz="2400">
              <a:latin typeface="Calibri"/>
              <a:cs typeface="Calibri"/>
            </a:endParaRPr>
          </a:p>
          <a:p>
            <a:pPr marL="862965" marR="5080" lvl="1" indent="-393700">
              <a:lnSpc>
                <a:spcPct val="100000"/>
              </a:lnSpc>
              <a:spcBef>
                <a:spcPts val="484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received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HTML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code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shown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(in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web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browser)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page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74738" y="3182492"/>
            <a:ext cx="1424940" cy="1185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0000"/>
                </a:solidFill>
                <a:latin typeface="Arial"/>
                <a:cs typeface="Arial"/>
              </a:rPr>
              <a:t>HTTP(S)</a:t>
            </a:r>
            <a:endParaRPr sz="2800">
              <a:latin typeface="Arial"/>
              <a:cs typeface="Arial"/>
            </a:endParaRPr>
          </a:p>
          <a:p>
            <a:pPr marL="408305" marR="398780" algn="ctr">
              <a:lnSpc>
                <a:spcPct val="100000"/>
              </a:lnSpc>
              <a:spcBef>
                <a:spcPts val="15"/>
              </a:spcBef>
            </a:pPr>
            <a:r>
              <a:rPr sz="2400" spc="-25" dirty="0">
                <a:solidFill>
                  <a:srgbClr val="7E7E7E"/>
                </a:solidFill>
                <a:latin typeface="Arial"/>
                <a:cs typeface="Arial"/>
              </a:rPr>
              <a:t>TCP IP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086600" y="1828800"/>
            <a:ext cx="1447800" cy="1447800"/>
            <a:chOff x="7086600" y="1828800"/>
            <a:chExt cx="1447800" cy="1447800"/>
          </a:xfrm>
        </p:grpSpPr>
        <p:pic>
          <p:nvPicPr>
            <p:cNvPr id="20" name="object 20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79564" y="2010155"/>
              <a:ext cx="990600" cy="961644"/>
            </a:xfrm>
            <a:prstGeom prst="rect">
              <a:avLst/>
            </a:prstGeom>
          </p:spPr>
        </p:pic>
        <p:pic>
          <p:nvPicPr>
            <p:cNvPr id="21" name="object 21">
              <a:hlinkClick r:id="rId7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86600" y="1828800"/>
              <a:ext cx="1447800" cy="14478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065009" y="1244853"/>
            <a:ext cx="172338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Server-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side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Program/Script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21528" y="3551935"/>
            <a:ext cx="796925" cy="819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FF0000"/>
                </a:solidFill>
                <a:latin typeface="Arial"/>
                <a:cs typeface="Arial"/>
              </a:rPr>
              <a:t>URL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4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+data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Sending</a:t>
            </a:r>
            <a:r>
              <a:rPr spc="-7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client</a:t>
            </a:r>
            <a:r>
              <a:rPr spc="-40" dirty="0"/>
              <a:t> </a:t>
            </a:r>
            <a:r>
              <a:rPr spc="-10" dirty="0"/>
              <a:t>request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939" y="1232661"/>
            <a:ext cx="8583930" cy="2907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1247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Once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connection</a:t>
            </a:r>
            <a:r>
              <a:rPr sz="24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established,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C00000"/>
                </a:solidFill>
                <a:latin typeface="Calibri"/>
                <a:cs typeface="Calibri"/>
              </a:rPr>
              <a:t>user-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agent</a:t>
            </a:r>
            <a:r>
              <a:rPr sz="2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(e.g.</a:t>
            </a:r>
            <a:r>
              <a:rPr sz="24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web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browser,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crawler)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send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request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client</a:t>
            </a:r>
            <a:r>
              <a:rPr sz="24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request</a:t>
            </a:r>
            <a:r>
              <a:rPr sz="2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consists</a:t>
            </a:r>
            <a:r>
              <a:rPr sz="24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text</a:t>
            </a:r>
            <a:r>
              <a:rPr sz="2400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directives</a:t>
            </a:r>
            <a:r>
              <a:rPr sz="24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divided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into:</a:t>
            </a:r>
            <a:endParaRPr sz="24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505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first</a:t>
            </a:r>
            <a:r>
              <a:rPr sz="20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line</a:t>
            </a:r>
            <a:r>
              <a:rPr sz="2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contains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request</a:t>
            </a:r>
            <a:r>
              <a:rPr sz="20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method</a:t>
            </a:r>
            <a:r>
              <a:rPr sz="20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(GET,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POST)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followed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endParaRPr sz="2000">
              <a:latin typeface="Calibri"/>
              <a:cs typeface="Calibri"/>
            </a:endParaRPr>
          </a:p>
          <a:p>
            <a:pPr marL="862965">
              <a:lnSpc>
                <a:spcPct val="100000"/>
              </a:lnSpc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parameters:</a:t>
            </a:r>
            <a:endParaRPr sz="2000">
              <a:latin typeface="Calibri"/>
              <a:cs typeface="Calibri"/>
            </a:endParaRPr>
          </a:p>
          <a:p>
            <a:pPr marL="1259205" marR="5080" lvl="2" indent="-332740">
              <a:lnSpc>
                <a:spcPct val="100000"/>
              </a:lnSpc>
              <a:spcBef>
                <a:spcPts val="480"/>
              </a:spcBef>
              <a:buSzPct val="80000"/>
              <a:buFont typeface="Wingdings"/>
              <a:buChar char=""/>
              <a:tabLst>
                <a:tab pos="1259205" algn="l"/>
              </a:tabLst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path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document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i.e.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absolute</a:t>
            </a:r>
            <a:r>
              <a:rPr sz="20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URL</a:t>
            </a:r>
            <a:r>
              <a:rPr sz="2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without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protocol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or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domain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name</a:t>
            </a:r>
            <a:endParaRPr sz="2000">
              <a:latin typeface="Calibri"/>
              <a:cs typeface="Calibri"/>
            </a:endParaRPr>
          </a:p>
          <a:p>
            <a:pPr marL="1259205" lvl="2" indent="-332105">
              <a:lnSpc>
                <a:spcPct val="100000"/>
              </a:lnSpc>
              <a:spcBef>
                <a:spcPts val="480"/>
              </a:spcBef>
              <a:buSzPct val="80000"/>
              <a:buFont typeface="Wingdings"/>
              <a:buChar char=""/>
              <a:tabLst>
                <a:tab pos="1259205" algn="l"/>
              </a:tabLst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HTTP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protocol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version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4343400"/>
            <a:ext cx="6526777" cy="19933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</a:t>
            </a:r>
            <a:r>
              <a:rPr spc="-6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server</a:t>
            </a:r>
            <a:r>
              <a:rPr spc="-40" dirty="0"/>
              <a:t> </a:t>
            </a:r>
            <a:r>
              <a:rPr spc="-10" dirty="0"/>
              <a:t>response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251178"/>
            <a:ext cx="8585200" cy="270891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processes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request,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ultimately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returns</a:t>
            </a:r>
            <a:r>
              <a:rPr sz="20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0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response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formed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directives,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divided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into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following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blocks:</a:t>
            </a:r>
            <a:endParaRPr sz="20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48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first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line,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status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line,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consists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acknowledgment</a:t>
            </a:r>
            <a:r>
              <a:rPr sz="2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86296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HTTP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version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used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followed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status</a:t>
            </a:r>
            <a:r>
              <a:rPr sz="20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request</a:t>
            </a:r>
            <a:r>
              <a:rPr sz="2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(and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brief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meaning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  <a:p>
            <a:pPr marL="862965">
              <a:lnSpc>
                <a:spcPct val="100000"/>
              </a:lnSpc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human-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readable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text).</a:t>
            </a:r>
            <a:endParaRPr sz="2000">
              <a:latin typeface="Calibri"/>
              <a:cs typeface="Calibri"/>
            </a:endParaRPr>
          </a:p>
          <a:p>
            <a:pPr marL="862965" marR="819150" lvl="1" indent="-393700">
              <a:lnSpc>
                <a:spcPct val="100000"/>
              </a:lnSpc>
              <a:spcBef>
                <a:spcPts val="48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Subsequent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lines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represent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HTTP</a:t>
            </a:r>
            <a:r>
              <a:rPr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headers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giving</a:t>
            </a:r>
            <a:r>
              <a:rPr sz="20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client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sent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(e.g.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type,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size,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compression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algorithm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used,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hints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caching).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4284238"/>
            <a:ext cx="5787261" cy="20616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GET</a:t>
            </a:r>
            <a:r>
              <a:rPr spc="-4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91547"/>
            <a:ext cx="8726805" cy="446722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50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query</a:t>
            </a:r>
            <a:r>
              <a:rPr sz="22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string</a:t>
            </a:r>
            <a:r>
              <a:rPr sz="22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(name/value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pairs)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sent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2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2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URL</a:t>
            </a:r>
            <a:r>
              <a:rPr sz="2200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request:</a:t>
            </a:r>
            <a:endParaRPr sz="22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470"/>
              </a:spcBef>
              <a:buSzPct val="89473"/>
              <a:buFont typeface="Wingdings"/>
              <a:buChar char=""/>
              <a:tabLst>
                <a:tab pos="862965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e.g.,</a:t>
            </a:r>
            <a:r>
              <a:rPr sz="19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C00000"/>
                </a:solidFill>
                <a:latin typeface="Calibri"/>
                <a:cs typeface="Calibri"/>
              </a:rPr>
              <a:t>/test/demo_form.php</a:t>
            </a:r>
            <a:r>
              <a:rPr sz="1900" b="1" spc="-10" dirty="0">
                <a:solidFill>
                  <a:srgbClr val="0000FF"/>
                </a:solidFill>
                <a:latin typeface="Calibri"/>
                <a:cs typeface="Calibri"/>
              </a:rPr>
              <a:t>?</a:t>
            </a:r>
            <a:r>
              <a:rPr sz="1900" b="1" spc="-10" dirty="0">
                <a:solidFill>
                  <a:srgbClr val="C00000"/>
                </a:solidFill>
                <a:latin typeface="Calibri"/>
                <a:cs typeface="Calibri"/>
              </a:rPr>
              <a:t>name1=value1&amp;name2=value2</a:t>
            </a:r>
            <a:endParaRPr sz="1900">
              <a:latin typeface="Calibri"/>
              <a:cs typeface="Calibri"/>
            </a:endParaRPr>
          </a:p>
          <a:p>
            <a:pPr marL="1259205" lvl="2" indent="-332105">
              <a:lnSpc>
                <a:spcPct val="100000"/>
              </a:lnSpc>
              <a:spcBef>
                <a:spcPts val="434"/>
              </a:spcBef>
              <a:buSzPct val="80555"/>
              <a:buFont typeface="Wingdings"/>
              <a:buChar char=""/>
              <a:tabLst>
                <a:tab pos="125920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method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sends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encoded</a:t>
            </a:r>
            <a:r>
              <a:rPr sz="1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user</a:t>
            </a:r>
            <a:r>
              <a:rPr sz="1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information</a:t>
            </a:r>
            <a:r>
              <a:rPr sz="18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appended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page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request</a:t>
            </a:r>
            <a:endParaRPr sz="1800">
              <a:latin typeface="Calibri"/>
              <a:cs typeface="Calibri"/>
            </a:endParaRPr>
          </a:p>
          <a:p>
            <a:pPr marL="1259205" lvl="2" indent="-332105">
              <a:lnSpc>
                <a:spcPct val="100000"/>
              </a:lnSpc>
              <a:spcBef>
                <a:spcPts val="430"/>
              </a:spcBef>
              <a:buSzPct val="80555"/>
              <a:buFont typeface="Wingdings"/>
              <a:buChar char=""/>
              <a:tabLst>
                <a:tab pos="125920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page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encoded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separated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00FF"/>
                </a:solidFill>
                <a:latin typeface="Calibri"/>
                <a:cs typeface="Calibri"/>
              </a:rPr>
              <a:t>?</a:t>
            </a:r>
            <a:r>
              <a:rPr sz="1800" b="1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Character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15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method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produces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long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string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appears</a:t>
            </a:r>
            <a:r>
              <a:rPr sz="22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2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your</a:t>
            </a:r>
            <a:r>
              <a:rPr sz="22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server</a:t>
            </a:r>
            <a:r>
              <a:rPr sz="22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0000FF"/>
                </a:solidFill>
                <a:latin typeface="Calibri"/>
                <a:cs typeface="Calibri"/>
              </a:rPr>
              <a:t>logs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requests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22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retrieve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endParaRPr sz="22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465"/>
              </a:spcBef>
              <a:buSzPct val="89473"/>
              <a:buFont typeface="Wingdings"/>
              <a:buChar char=""/>
              <a:tabLst>
                <a:tab pos="862965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19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requests</a:t>
            </a:r>
            <a:r>
              <a:rPr sz="1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19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0FF"/>
                </a:solidFill>
                <a:latin typeface="Calibri"/>
                <a:cs typeface="Calibri"/>
              </a:rPr>
              <a:t>never</a:t>
            </a:r>
            <a:r>
              <a:rPr sz="19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19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0FF"/>
                </a:solidFill>
                <a:latin typeface="Calibri"/>
                <a:cs typeface="Calibri"/>
              </a:rPr>
              <a:t>used</a:t>
            </a:r>
            <a:r>
              <a:rPr sz="19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19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dealing</a:t>
            </a:r>
            <a:r>
              <a:rPr sz="19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19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0FF"/>
                </a:solidFill>
                <a:latin typeface="Calibri"/>
                <a:cs typeface="Calibri"/>
              </a:rPr>
              <a:t>sensitive</a:t>
            </a:r>
            <a:r>
              <a:rPr sz="19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20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Note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can't</a:t>
            </a:r>
            <a:r>
              <a:rPr sz="22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send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binary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data,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images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documents,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(string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exclusively)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b="1" u="sng" dirty="0">
                <a:solidFill>
                  <a:srgbClr val="B59B0C"/>
                </a:solidFill>
                <a:uFill>
                  <a:solidFill>
                    <a:srgbClr val="B59B0C"/>
                  </a:solidFill>
                </a:uFill>
                <a:latin typeface="Calibri"/>
                <a:cs typeface="Calibri"/>
              </a:rPr>
              <a:t>To</a:t>
            </a:r>
            <a:r>
              <a:rPr sz="2200" b="1" u="sng" spc="-40" dirty="0">
                <a:solidFill>
                  <a:srgbClr val="B59B0C"/>
                </a:solidFill>
                <a:uFill>
                  <a:solidFill>
                    <a:srgbClr val="B59B0C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dirty="0">
                <a:solidFill>
                  <a:srgbClr val="B59B0C"/>
                </a:solidFill>
                <a:uFill>
                  <a:solidFill>
                    <a:srgbClr val="B59B0C"/>
                  </a:solidFill>
                </a:uFill>
                <a:latin typeface="Calibri"/>
                <a:cs typeface="Calibri"/>
              </a:rPr>
              <a:t>be</a:t>
            </a:r>
            <a:r>
              <a:rPr sz="2200" b="1" u="sng" spc="-25" dirty="0">
                <a:solidFill>
                  <a:srgbClr val="B59B0C"/>
                </a:solidFill>
                <a:uFill>
                  <a:solidFill>
                    <a:srgbClr val="B59B0C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dirty="0">
                <a:solidFill>
                  <a:srgbClr val="B59B0C"/>
                </a:solidFill>
                <a:uFill>
                  <a:solidFill>
                    <a:srgbClr val="B59B0C"/>
                  </a:solidFill>
                </a:uFill>
                <a:latin typeface="Calibri"/>
                <a:cs typeface="Calibri"/>
              </a:rPr>
              <a:t>covered:</a:t>
            </a:r>
            <a:r>
              <a:rPr sz="2200" b="1" dirty="0">
                <a:solidFill>
                  <a:srgbClr val="B59B0C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PHP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provides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$_GET</a:t>
            </a:r>
            <a:r>
              <a:rPr sz="2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associative</a:t>
            </a:r>
            <a:r>
              <a:rPr sz="2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array</a:t>
            </a:r>
            <a:r>
              <a:rPr sz="22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access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sent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method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requests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remain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browser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history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2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can</a:t>
            </a:r>
            <a:r>
              <a:rPr sz="22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be</a:t>
            </a:r>
            <a:r>
              <a:rPr sz="22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Calibri"/>
                <a:cs typeface="Calibri"/>
              </a:rPr>
              <a:t>bookmarked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POST</a:t>
            </a:r>
            <a:r>
              <a:rPr spc="-25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235709"/>
            <a:ext cx="85661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query</a:t>
            </a:r>
            <a:r>
              <a:rPr sz="20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string</a:t>
            </a:r>
            <a:r>
              <a:rPr sz="2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(name/value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pairs)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sent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0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HTTP</a:t>
            </a:r>
            <a:r>
              <a:rPr sz="2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message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body</a:t>
            </a:r>
            <a:r>
              <a:rPr sz="20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POST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request: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3004185"/>
            <a:ext cx="8481060" cy="3013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no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limit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size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(unlike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method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capped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max-length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of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URL)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POST</a:t>
            </a:r>
            <a:r>
              <a:rPr sz="2000" u="sng" spc="-4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0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method</a:t>
            </a:r>
            <a:r>
              <a:rPr sz="2000" u="sng" spc="-3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transfers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information</a:t>
            </a:r>
            <a:r>
              <a:rPr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via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HTTP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security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depends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HTTP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protocol:</a:t>
            </a:r>
            <a:endParaRPr sz="20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48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Secure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HTTP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sure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secure</a:t>
            </a:r>
            <a:endParaRPr sz="2000">
              <a:latin typeface="Calibri"/>
              <a:cs typeface="Calibri"/>
            </a:endParaRPr>
          </a:p>
          <a:p>
            <a:pPr marL="355600" marR="285750" indent="-342900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b="1" u="sng" dirty="0">
                <a:solidFill>
                  <a:srgbClr val="B59B0C"/>
                </a:solidFill>
                <a:uFill>
                  <a:solidFill>
                    <a:srgbClr val="B59B0C"/>
                  </a:solidFill>
                </a:uFill>
                <a:latin typeface="Calibri"/>
                <a:cs typeface="Calibri"/>
              </a:rPr>
              <a:t>To</a:t>
            </a:r>
            <a:r>
              <a:rPr sz="2000" b="1" u="sng" spc="-55" dirty="0">
                <a:solidFill>
                  <a:srgbClr val="B59B0C"/>
                </a:solidFill>
                <a:uFill>
                  <a:solidFill>
                    <a:srgbClr val="B59B0C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B59B0C"/>
                </a:solidFill>
                <a:uFill>
                  <a:solidFill>
                    <a:srgbClr val="B59B0C"/>
                  </a:solidFill>
                </a:uFill>
                <a:latin typeface="Calibri"/>
                <a:cs typeface="Calibri"/>
              </a:rPr>
              <a:t>be</a:t>
            </a:r>
            <a:r>
              <a:rPr sz="2000" b="1" u="sng" spc="-40" dirty="0">
                <a:solidFill>
                  <a:srgbClr val="B59B0C"/>
                </a:solidFill>
                <a:uFill>
                  <a:solidFill>
                    <a:srgbClr val="B59B0C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B59B0C"/>
                </a:solidFill>
                <a:uFill>
                  <a:solidFill>
                    <a:srgbClr val="B59B0C"/>
                  </a:solidFill>
                </a:uFill>
                <a:latin typeface="Calibri"/>
                <a:cs typeface="Calibri"/>
              </a:rPr>
              <a:t>covered:</a:t>
            </a:r>
            <a:r>
              <a:rPr sz="2000" b="1" spc="-40" dirty="0">
                <a:solidFill>
                  <a:srgbClr val="B59B0C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PHP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provides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$_POST</a:t>
            </a:r>
            <a:r>
              <a:rPr sz="2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associative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array</a:t>
            </a:r>
            <a:r>
              <a:rPr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access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sent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POST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method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POST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requests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remain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browser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history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cannot</a:t>
            </a:r>
            <a:r>
              <a:rPr sz="2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Calibri"/>
                <a:cs typeface="Calibri"/>
              </a:rPr>
              <a:t>be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bookmarked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0" y="1676400"/>
            <a:ext cx="4038600" cy="13746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Response</a:t>
            </a:r>
            <a:r>
              <a:rPr spc="-45" dirty="0"/>
              <a:t> </a:t>
            </a:r>
            <a:r>
              <a:rPr dirty="0"/>
              <a:t>status</a:t>
            </a:r>
            <a:r>
              <a:rPr spc="-15" dirty="0"/>
              <a:t> </a:t>
            </a:r>
            <a:r>
              <a:rPr spc="-20" dirty="0"/>
              <a:t>codes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137297"/>
            <a:ext cx="8486775" cy="117665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50"/>
              </a:spcBef>
              <a:buAutoNum type="arabicPeriod" startAt="3"/>
              <a:tabLst>
                <a:tab pos="35369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Redirection</a:t>
            </a:r>
            <a:r>
              <a:rPr sz="2400" b="1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messages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259205" marR="5080" lvl="1" indent="-332740">
              <a:lnSpc>
                <a:spcPct val="100000"/>
              </a:lnSpc>
              <a:spcBef>
                <a:spcPts val="630"/>
              </a:spcBef>
              <a:buSzPct val="80000"/>
              <a:buFont typeface="Wingdings"/>
              <a:buChar char=""/>
              <a:tabLst>
                <a:tab pos="125920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e.g.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301</a:t>
            </a:r>
            <a:r>
              <a:rPr sz="2000" u="sng" spc="-5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0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Moved</a:t>
            </a:r>
            <a:r>
              <a:rPr sz="2000" u="sng" spc="-6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0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Permanently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indicates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resource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requested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been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definitively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moved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URL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given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Location</a:t>
            </a:r>
            <a:r>
              <a:rPr sz="20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headers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4171530"/>
            <a:ext cx="8360409" cy="218186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3695" indent="-340995">
              <a:lnSpc>
                <a:spcPct val="100000"/>
              </a:lnSpc>
              <a:spcBef>
                <a:spcPts val="844"/>
              </a:spcBef>
              <a:buAutoNum type="arabicPeriod" startAt="4"/>
              <a:tabLst>
                <a:tab pos="35369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Client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responses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1259205" lvl="1" indent="-332105">
              <a:lnSpc>
                <a:spcPct val="100000"/>
              </a:lnSpc>
              <a:spcBef>
                <a:spcPts val="630"/>
              </a:spcBef>
              <a:buSzPct val="80000"/>
              <a:buFont typeface="Wingdings"/>
              <a:buChar char=""/>
              <a:tabLst>
                <a:tab pos="125920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e.g.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3"/>
              </a:rPr>
              <a:t>404</a:t>
            </a:r>
            <a:r>
              <a:rPr sz="2000" u="sng" spc="-3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0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3"/>
              </a:rPr>
              <a:t>Not</a:t>
            </a:r>
            <a:r>
              <a:rPr sz="2000" u="sng" spc="-4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0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3"/>
              </a:rPr>
              <a:t>Found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server can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find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requested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resource</a:t>
            </a:r>
            <a:endParaRPr sz="2000">
              <a:latin typeface="Calibri"/>
              <a:cs typeface="Calibri"/>
            </a:endParaRPr>
          </a:p>
          <a:p>
            <a:pPr marL="1612900" lvl="2" indent="-2286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1612900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code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probably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 most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famous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due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frequent</a:t>
            </a:r>
            <a:endParaRPr sz="1800">
              <a:latin typeface="Calibri"/>
              <a:cs typeface="Calibri"/>
            </a:endParaRPr>
          </a:p>
          <a:p>
            <a:pPr marL="16129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occurrence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web</a:t>
            </a:r>
            <a:endParaRPr sz="1800">
              <a:latin typeface="Calibri"/>
              <a:cs typeface="Calibri"/>
            </a:endParaRPr>
          </a:p>
          <a:p>
            <a:pPr marL="1259205" marR="5080" lvl="1" indent="-332740">
              <a:lnSpc>
                <a:spcPct val="100000"/>
              </a:lnSpc>
              <a:spcBef>
                <a:spcPts val="595"/>
              </a:spcBef>
              <a:buSzPct val="80000"/>
              <a:buFont typeface="Wingdings"/>
              <a:buChar char=""/>
              <a:tabLst>
                <a:tab pos="125920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e.g.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4"/>
              </a:rPr>
              <a:t>403</a:t>
            </a:r>
            <a:r>
              <a:rPr sz="2000" u="sng" spc="-5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20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4"/>
              </a:rPr>
              <a:t>Forbidden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indicates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understood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request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refuses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authorise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24055" y="2436549"/>
            <a:ext cx="3471944" cy="17669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  <p:extLst>
      <p:ext uri="{BB962C8B-B14F-4D97-AF65-F5344CB8AC3E}">
        <p14:creationId xmlns:p14="http://schemas.microsoft.com/office/powerpoint/2010/main" val="702523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Response</a:t>
            </a:r>
            <a:r>
              <a:rPr spc="-45" dirty="0"/>
              <a:t> </a:t>
            </a:r>
            <a:r>
              <a:rPr dirty="0"/>
              <a:t>status</a:t>
            </a:r>
            <a:r>
              <a:rPr spc="-15" dirty="0"/>
              <a:t> </a:t>
            </a:r>
            <a:r>
              <a:rPr spc="-20" dirty="0"/>
              <a:t>codes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822" y="1145635"/>
            <a:ext cx="6776720" cy="133223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85"/>
              </a:spcBef>
              <a:buAutoNum type="arabicPeriod" startAt="5"/>
              <a:tabLst>
                <a:tab pos="4692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Server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responses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977265" lvl="1" indent="-457200">
              <a:lnSpc>
                <a:spcPct val="100000"/>
              </a:lnSpc>
              <a:spcBef>
                <a:spcPts val="620"/>
              </a:spcBef>
              <a:buSzPct val="88636"/>
              <a:buFont typeface="Wingdings"/>
              <a:buChar char=""/>
              <a:tabLst>
                <a:tab pos="9772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e.g.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500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Internal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Error</a:t>
            </a:r>
            <a:endParaRPr sz="2200">
              <a:latin typeface="Calibri"/>
              <a:cs typeface="Calibri"/>
            </a:endParaRPr>
          </a:p>
          <a:p>
            <a:pPr marL="1373505" lvl="2" indent="-457200">
              <a:lnSpc>
                <a:spcPct val="100000"/>
              </a:lnSpc>
              <a:spcBef>
                <a:spcPts val="580"/>
              </a:spcBef>
              <a:buSzPct val="79166"/>
              <a:buFont typeface="Wingdings"/>
              <a:buChar char=""/>
              <a:tabLst>
                <a:tab pos="137350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Wrong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implementation</a:t>
            </a:r>
            <a:r>
              <a:rPr sz="24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side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script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  <p:extLst>
      <p:ext uri="{BB962C8B-B14F-4D97-AF65-F5344CB8AC3E}">
        <p14:creationId xmlns:p14="http://schemas.microsoft.com/office/powerpoint/2010/main" val="3222836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Web/HTTP</a:t>
            </a:r>
            <a:r>
              <a:rPr spc="-45" dirty="0"/>
              <a:t> </a:t>
            </a:r>
            <a:r>
              <a:rPr dirty="0"/>
              <a:t>is</a:t>
            </a:r>
            <a:r>
              <a:rPr spc="-10" dirty="0"/>
              <a:t> stateless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562919"/>
            <a:ext cx="8576310" cy="461581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35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HTTP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protocol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itself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stateless</a:t>
            </a:r>
            <a:r>
              <a:rPr sz="22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memoryless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)</a:t>
            </a:r>
            <a:endParaRPr sz="22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1070"/>
              </a:spcBef>
              <a:buSzPct val="89473"/>
              <a:buFont typeface="Wingdings"/>
              <a:buChar char=""/>
              <a:tabLst>
                <a:tab pos="862965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19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9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404040"/>
                </a:solidFill>
                <a:latin typeface="Calibri"/>
                <a:cs typeface="Calibri"/>
              </a:rPr>
              <a:t>Web!</a:t>
            </a:r>
            <a:endParaRPr sz="19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1030"/>
              </a:spcBef>
              <a:buSzPct val="89473"/>
              <a:buFont typeface="Wingdings"/>
              <a:buChar char=""/>
              <a:tabLst>
                <a:tab pos="862965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19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HTTP</a:t>
            </a:r>
            <a:r>
              <a:rPr sz="19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request</a:t>
            </a:r>
            <a:r>
              <a:rPr sz="19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9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processed</a:t>
            </a:r>
            <a:r>
              <a:rPr sz="19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without</a:t>
            </a:r>
            <a:r>
              <a:rPr sz="19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knowledge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9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19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prior</a:t>
            </a:r>
            <a:r>
              <a:rPr sz="19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requests</a:t>
            </a:r>
            <a:endParaRPr sz="1900">
              <a:latin typeface="Calibri"/>
              <a:cs typeface="Calibri"/>
            </a:endParaRPr>
          </a:p>
          <a:p>
            <a:pPr marL="862965" marR="5080" lvl="1" indent="-393700">
              <a:lnSpc>
                <a:spcPct val="110000"/>
              </a:lnSpc>
              <a:spcBef>
                <a:spcPts val="795"/>
              </a:spcBef>
              <a:buSzPct val="89473"/>
              <a:buFont typeface="Wingdings"/>
              <a:buChar char=""/>
              <a:tabLst>
                <a:tab pos="862965" algn="l"/>
              </a:tabLst>
            </a:pP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9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stateless</a:t>
            </a:r>
            <a:r>
              <a:rPr sz="19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protocol</a:t>
            </a:r>
            <a:r>
              <a:rPr sz="19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0FF"/>
                </a:solidFill>
                <a:latin typeface="Calibri"/>
                <a:cs typeface="Calibri"/>
              </a:rPr>
              <a:t>does</a:t>
            </a:r>
            <a:r>
              <a:rPr sz="19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0FF"/>
                </a:solidFill>
                <a:latin typeface="Calibri"/>
                <a:cs typeface="Calibri"/>
              </a:rPr>
              <a:t>not</a:t>
            </a:r>
            <a:r>
              <a:rPr sz="19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require</a:t>
            </a:r>
            <a:r>
              <a:rPr sz="19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9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19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9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0FF"/>
                </a:solidFill>
                <a:latin typeface="Calibri"/>
                <a:cs typeface="Calibri"/>
              </a:rPr>
              <a:t>retain</a:t>
            </a:r>
            <a:r>
              <a:rPr sz="19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0FF"/>
                </a:solidFill>
                <a:latin typeface="Calibri"/>
                <a:cs typeface="Calibri"/>
              </a:rPr>
              <a:t>information</a:t>
            </a:r>
            <a:r>
              <a:rPr sz="19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9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status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19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19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19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9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9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duration</a:t>
            </a:r>
            <a:r>
              <a:rPr sz="19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9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404040"/>
                </a:solidFill>
                <a:latin typeface="Calibri"/>
                <a:cs typeface="Calibri"/>
              </a:rPr>
              <a:t>multiple</a:t>
            </a:r>
            <a:r>
              <a:rPr sz="19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Calibri"/>
                <a:cs typeface="Calibri"/>
              </a:rPr>
              <a:t>requests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35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No</a:t>
            </a:r>
            <a:r>
              <a:rPr sz="22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need</a:t>
            </a:r>
            <a:r>
              <a:rPr sz="22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22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dynamically</a:t>
            </a:r>
            <a:r>
              <a:rPr sz="22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allocate</a:t>
            </a:r>
            <a:r>
              <a:rPr sz="22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00000"/>
                </a:solidFill>
                <a:latin typeface="Calibri"/>
                <a:cs typeface="Calibri"/>
              </a:rPr>
              <a:t>storage</a:t>
            </a:r>
            <a:r>
              <a:rPr sz="22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deal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conversations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260"/>
              </a:spcBef>
            </a:pP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progress</a:t>
            </a:r>
            <a:endParaRPr sz="2200">
              <a:latin typeface="Calibri"/>
              <a:cs typeface="Calibri"/>
            </a:endParaRPr>
          </a:p>
          <a:p>
            <a:pPr marL="355600" marR="1384300" indent="-342900">
              <a:lnSpc>
                <a:spcPct val="110000"/>
              </a:lnSpc>
              <a:spcBef>
                <a:spcPts val="810"/>
              </a:spcBef>
              <a:buFont typeface="Wingdings"/>
              <a:buChar char=""/>
              <a:tabLst>
                <a:tab pos="355600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minimises</a:t>
            </a:r>
            <a:r>
              <a:rPr sz="22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time/bandwidth</a:t>
            </a:r>
            <a:r>
              <a:rPr sz="22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would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otherwise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spent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reestablishing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connection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request</a:t>
            </a:r>
            <a:endParaRPr sz="2200">
              <a:latin typeface="Calibri"/>
              <a:cs typeface="Calibri"/>
            </a:endParaRPr>
          </a:p>
          <a:p>
            <a:pPr marL="355600" marR="10160" indent="-342900">
              <a:lnSpc>
                <a:spcPct val="110000"/>
              </a:lnSpc>
              <a:spcBef>
                <a:spcPts val="795"/>
              </a:spcBef>
              <a:buFont typeface="Wingdings"/>
              <a:buChar char=""/>
              <a:tabLst>
                <a:tab pos="355600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client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session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dies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mid-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transaction,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no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part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needs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responsible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cleaning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up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present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Web/HTTP</a:t>
            </a:r>
            <a:r>
              <a:rPr spc="-45" dirty="0"/>
              <a:t> </a:t>
            </a:r>
            <a:r>
              <a:rPr dirty="0"/>
              <a:t>is</a:t>
            </a:r>
            <a:r>
              <a:rPr spc="-10" dirty="0"/>
              <a:t> stateless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235710"/>
            <a:ext cx="7522209" cy="4768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applications,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want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memory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client’s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visiting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history</a:t>
            </a:r>
            <a:endParaRPr sz="2200">
              <a:latin typeface="Calibri"/>
              <a:cs typeface="Calibri"/>
            </a:endParaRPr>
          </a:p>
          <a:p>
            <a:pPr marL="862965" marR="22225" lvl="1" indent="-393700">
              <a:lnSpc>
                <a:spcPct val="100000"/>
              </a:lnSpc>
              <a:spcBef>
                <a:spcPts val="61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E.g.,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registered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website,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he/she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able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log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once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whole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website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mechanism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(HTTP)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stateful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(=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memoryful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).</a:t>
            </a:r>
            <a:endParaRPr sz="22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605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Save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historical</a:t>
            </a:r>
            <a:r>
              <a:rPr sz="2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visits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endParaRPr sz="2000">
              <a:latin typeface="Calibri"/>
              <a:cs typeface="Calibri"/>
            </a:endParaRPr>
          </a:p>
          <a:p>
            <a:pPr marL="1259205" lvl="2" indent="-332105">
              <a:lnSpc>
                <a:spcPct val="100000"/>
              </a:lnSpc>
              <a:spcBef>
                <a:spcPts val="610"/>
              </a:spcBef>
              <a:buSzPct val="80555"/>
              <a:buFont typeface="Wingdings"/>
              <a:buChar char=""/>
              <a:tabLst>
                <a:tab pos="125920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keeps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memory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past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5"/>
              </a:spcBef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Calibri"/>
                <a:cs typeface="Calibri"/>
              </a:rPr>
              <a:t>information</a:t>
            </a:r>
            <a:r>
              <a:rPr sz="22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2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Calibri"/>
                <a:cs typeface="Calibri"/>
              </a:rPr>
              <a:t>save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?</a:t>
            </a:r>
            <a:endParaRPr sz="22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61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submitted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via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HTML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forms</a:t>
            </a:r>
            <a:endParaRPr sz="20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60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submitted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via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URLs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(query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strings,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via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form)</a:t>
            </a:r>
            <a:endParaRPr sz="20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60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Who</a:t>
            </a:r>
            <a:r>
              <a:rPr sz="200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visited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what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when</a:t>
            </a:r>
            <a:r>
              <a:rPr sz="20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from</a:t>
            </a:r>
            <a:r>
              <a:rPr sz="2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where</a:t>
            </a:r>
            <a:r>
              <a:rPr sz="2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0FF"/>
                </a:solidFill>
                <a:latin typeface="Calibri"/>
                <a:cs typeface="Calibri"/>
              </a:rPr>
              <a:t>how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  <a:p>
            <a:pPr marL="1259205" lvl="2" indent="-332105">
              <a:lnSpc>
                <a:spcPct val="100000"/>
              </a:lnSpc>
              <a:spcBef>
                <a:spcPts val="610"/>
              </a:spcBef>
              <a:buSzPct val="80555"/>
              <a:buFont typeface="Wingdings"/>
              <a:buChar char=""/>
              <a:tabLst>
                <a:tab pos="125920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Maximally,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everything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visit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history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every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visitor!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1600200"/>
            <a:ext cx="533400" cy="533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4745" y="2510956"/>
            <a:ext cx="612817" cy="1890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2800" y="3505200"/>
            <a:ext cx="1810511" cy="12070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Making</a:t>
            </a:r>
            <a:r>
              <a:rPr spc="-10" dirty="0"/>
              <a:t> </a:t>
            </a:r>
            <a:r>
              <a:rPr dirty="0"/>
              <a:t>Web/HTTP</a:t>
            </a:r>
            <a:r>
              <a:rPr spc="-35" dirty="0"/>
              <a:t> </a:t>
            </a:r>
            <a:r>
              <a:rPr spc="-10" dirty="0"/>
              <a:t>stateful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2037714"/>
            <a:ext cx="7279005" cy="28060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Q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save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such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information?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Multiple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ways</a:t>
            </a:r>
            <a:endParaRPr sz="24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509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(HTTP)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cookies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(client-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side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data,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short-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long-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term)</a:t>
            </a:r>
            <a:endParaRPr sz="20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48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session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variables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(server-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side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data,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short-term)</a:t>
            </a:r>
            <a:endParaRPr sz="20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48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databases</a:t>
            </a: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(server-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side,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long-term)</a:t>
            </a:r>
            <a:endParaRPr sz="20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48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files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(server-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side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data,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long-term)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will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cover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everything!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Sessions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641475"/>
            <a:ext cx="6797675" cy="192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(client-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side)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Web/HTTP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session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lasts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first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user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visits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web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server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until</a:t>
            </a:r>
            <a:r>
              <a:rPr sz="24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web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browser</a:t>
            </a:r>
            <a:r>
              <a:rPr sz="24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closes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Q: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session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ID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maintained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during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session?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3546497"/>
            <a:ext cx="6010910" cy="116586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625"/>
              </a:spcBef>
              <a:buSzPct val="88636"/>
              <a:buFont typeface="Wingdings"/>
              <a:buChar char=""/>
              <a:tabLst>
                <a:tab pos="4057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Stored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(client-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side)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session</a:t>
            </a:r>
            <a:r>
              <a:rPr sz="22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Calibri"/>
                <a:cs typeface="Calibri"/>
              </a:rPr>
              <a:t>cookie</a:t>
            </a:r>
            <a:endParaRPr sz="2200">
              <a:latin typeface="Calibri"/>
              <a:cs typeface="Calibri"/>
            </a:endParaRPr>
          </a:p>
          <a:p>
            <a:pPr marL="405765" indent="-393065">
              <a:lnSpc>
                <a:spcPct val="100000"/>
              </a:lnSpc>
              <a:spcBef>
                <a:spcPts val="525"/>
              </a:spcBef>
              <a:buSzPct val="88636"/>
              <a:buFont typeface="Wingdings"/>
              <a:buChar char=""/>
              <a:tabLst>
                <a:tab pos="405765" algn="l"/>
              </a:tabLst>
            </a:pP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Communicated</a:t>
            </a:r>
            <a:r>
              <a:rPr sz="22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as</a:t>
            </a:r>
            <a:r>
              <a:rPr sz="22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2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URL</a:t>
            </a:r>
            <a:r>
              <a:rPr sz="22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parameter</a:t>
            </a:r>
            <a:r>
              <a:rPr sz="2200" spc="-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part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the</a:t>
            </a:r>
            <a:endParaRPr sz="2200">
              <a:latin typeface="Calibri"/>
              <a:cs typeface="Calibri"/>
            </a:endParaRPr>
          </a:p>
          <a:p>
            <a:pPr marL="40576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query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string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URL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4757166"/>
            <a:ext cx="65354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Note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client-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side</a:t>
            </a:r>
            <a:r>
              <a:rPr sz="2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session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unique</a:t>
            </a:r>
            <a:r>
              <a:rPr sz="24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ID</a:t>
            </a:r>
            <a:r>
              <a:rPr sz="24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associated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number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session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variables</a:t>
            </a:r>
            <a:r>
              <a:rPr sz="24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stored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server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side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3195" y="4580823"/>
            <a:ext cx="1676400" cy="149506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298245" y="1295400"/>
            <a:ext cx="1647825" cy="2621915"/>
            <a:chOff x="7298245" y="1295400"/>
            <a:chExt cx="1647825" cy="26219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76743" y="1295400"/>
              <a:ext cx="1290827" cy="154381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03007" y="2097023"/>
              <a:ext cx="1638300" cy="1815464"/>
            </a:xfrm>
            <a:custGeom>
              <a:avLst/>
              <a:gdLst/>
              <a:ahLst/>
              <a:cxnLst/>
              <a:rect l="l" t="t" r="r" b="b"/>
              <a:pathLst>
                <a:path w="1638300" h="1815464">
                  <a:moveTo>
                    <a:pt x="1638300" y="0"/>
                  </a:moveTo>
                  <a:lnTo>
                    <a:pt x="0" y="0"/>
                  </a:lnTo>
                  <a:lnTo>
                    <a:pt x="0" y="1815083"/>
                  </a:lnTo>
                  <a:lnTo>
                    <a:pt x="1638300" y="1815083"/>
                  </a:lnTo>
                  <a:lnTo>
                    <a:pt x="1638300" y="0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03007" y="2097023"/>
              <a:ext cx="1638300" cy="1815464"/>
            </a:xfrm>
            <a:custGeom>
              <a:avLst/>
              <a:gdLst/>
              <a:ahLst/>
              <a:cxnLst/>
              <a:rect l="l" t="t" r="r" b="b"/>
              <a:pathLst>
                <a:path w="1638300" h="1815464">
                  <a:moveTo>
                    <a:pt x="0" y="1815083"/>
                  </a:moveTo>
                  <a:lnTo>
                    <a:pt x="1638300" y="1815083"/>
                  </a:lnTo>
                  <a:lnTo>
                    <a:pt x="1638300" y="0"/>
                  </a:lnTo>
                  <a:lnTo>
                    <a:pt x="0" y="0"/>
                  </a:lnTo>
                  <a:lnTo>
                    <a:pt x="0" y="181508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382636" y="2123948"/>
            <a:ext cx="142748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ID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2fp8nq22d6vh2q a788nngm2644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82636" y="2977083"/>
            <a:ext cx="117983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Name=Manos Login=True Index=100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50" dirty="0">
                <a:solidFill>
                  <a:srgbClr val="FF0000"/>
                </a:solidFill>
                <a:latin typeface="Arial"/>
                <a:cs typeface="Arial"/>
              </a:rPr>
              <a:t>…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185657" y="3558794"/>
            <a:ext cx="330200" cy="1168400"/>
            <a:chOff x="8185657" y="3558794"/>
            <a:chExt cx="330200" cy="1168400"/>
          </a:xfrm>
        </p:grpSpPr>
        <p:sp>
          <p:nvSpPr>
            <p:cNvPr id="14" name="object 14"/>
            <p:cNvSpPr/>
            <p:nvPr/>
          </p:nvSpPr>
          <p:spPr>
            <a:xfrm>
              <a:off x="8198357" y="3571494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228600" y="0"/>
                  </a:moveTo>
                  <a:lnTo>
                    <a:pt x="76200" y="0"/>
                  </a:lnTo>
                  <a:lnTo>
                    <a:pt x="76200" y="990599"/>
                  </a:lnTo>
                  <a:lnTo>
                    <a:pt x="0" y="990599"/>
                  </a:lnTo>
                  <a:lnTo>
                    <a:pt x="152400" y="1142999"/>
                  </a:lnTo>
                  <a:lnTo>
                    <a:pt x="304800" y="990599"/>
                  </a:lnTo>
                  <a:lnTo>
                    <a:pt x="228600" y="99059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98357" y="3571494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0" y="990599"/>
                  </a:moveTo>
                  <a:lnTo>
                    <a:pt x="76200" y="990599"/>
                  </a:lnTo>
                  <a:lnTo>
                    <a:pt x="76200" y="0"/>
                  </a:lnTo>
                  <a:lnTo>
                    <a:pt x="228600" y="0"/>
                  </a:lnTo>
                  <a:lnTo>
                    <a:pt x="228600" y="990599"/>
                  </a:lnTo>
                  <a:lnTo>
                    <a:pt x="304800" y="990599"/>
                  </a:lnTo>
                  <a:lnTo>
                    <a:pt x="152400" y="1142999"/>
                  </a:lnTo>
                  <a:lnTo>
                    <a:pt x="0" y="990599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140320" y="2465070"/>
            <a:ext cx="918844" cy="2875280"/>
            <a:chOff x="7140320" y="2465070"/>
            <a:chExt cx="918844" cy="2875280"/>
          </a:xfrm>
        </p:grpSpPr>
        <p:sp>
          <p:nvSpPr>
            <p:cNvPr id="17" name="object 17"/>
            <p:cNvSpPr/>
            <p:nvPr/>
          </p:nvSpPr>
          <p:spPr>
            <a:xfrm>
              <a:off x="7741157" y="3571494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152400" y="0"/>
                  </a:moveTo>
                  <a:lnTo>
                    <a:pt x="0" y="152399"/>
                  </a:lnTo>
                  <a:lnTo>
                    <a:pt x="76200" y="152399"/>
                  </a:lnTo>
                  <a:lnTo>
                    <a:pt x="76200" y="1142999"/>
                  </a:lnTo>
                  <a:lnTo>
                    <a:pt x="228600" y="1142999"/>
                  </a:lnTo>
                  <a:lnTo>
                    <a:pt x="228600" y="152399"/>
                  </a:lnTo>
                  <a:lnTo>
                    <a:pt x="304800" y="152399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41157" y="3571494"/>
              <a:ext cx="304800" cy="1143000"/>
            </a:xfrm>
            <a:custGeom>
              <a:avLst/>
              <a:gdLst/>
              <a:ahLst/>
              <a:cxnLst/>
              <a:rect l="l" t="t" r="r" b="b"/>
              <a:pathLst>
                <a:path w="304800" h="1143000">
                  <a:moveTo>
                    <a:pt x="0" y="152399"/>
                  </a:moveTo>
                  <a:lnTo>
                    <a:pt x="152400" y="0"/>
                  </a:lnTo>
                  <a:lnTo>
                    <a:pt x="304800" y="152399"/>
                  </a:lnTo>
                  <a:lnTo>
                    <a:pt x="228600" y="152399"/>
                  </a:lnTo>
                  <a:lnTo>
                    <a:pt x="228600" y="1142999"/>
                  </a:lnTo>
                  <a:lnTo>
                    <a:pt x="76200" y="1142999"/>
                  </a:lnTo>
                  <a:lnTo>
                    <a:pt x="76200" y="152399"/>
                  </a:lnTo>
                  <a:lnTo>
                    <a:pt x="0" y="152399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40320" y="2465070"/>
              <a:ext cx="374015" cy="2494915"/>
            </a:xfrm>
            <a:custGeom>
              <a:avLst/>
              <a:gdLst/>
              <a:ahLst/>
              <a:cxnLst/>
              <a:rect l="l" t="t" r="r" b="b"/>
              <a:pathLst>
                <a:path w="374015" h="2494915">
                  <a:moveTo>
                    <a:pt x="326456" y="2433648"/>
                  </a:moveTo>
                  <a:lnTo>
                    <a:pt x="304164" y="2445638"/>
                  </a:lnTo>
                  <a:lnTo>
                    <a:pt x="373760" y="2494787"/>
                  </a:lnTo>
                  <a:lnTo>
                    <a:pt x="372273" y="2444877"/>
                  </a:lnTo>
                  <a:lnTo>
                    <a:pt x="332485" y="2444877"/>
                  </a:lnTo>
                  <a:lnTo>
                    <a:pt x="326456" y="2433648"/>
                  </a:lnTo>
                  <a:close/>
                </a:path>
                <a:path w="374015" h="2494915">
                  <a:moveTo>
                    <a:pt x="348923" y="2421564"/>
                  </a:moveTo>
                  <a:lnTo>
                    <a:pt x="326456" y="2433648"/>
                  </a:lnTo>
                  <a:lnTo>
                    <a:pt x="332485" y="2444877"/>
                  </a:lnTo>
                  <a:lnTo>
                    <a:pt x="354964" y="2432811"/>
                  </a:lnTo>
                  <a:lnTo>
                    <a:pt x="348923" y="2421564"/>
                  </a:lnTo>
                  <a:close/>
                </a:path>
                <a:path w="374015" h="2494915">
                  <a:moveTo>
                    <a:pt x="371221" y="2409571"/>
                  </a:moveTo>
                  <a:lnTo>
                    <a:pt x="348923" y="2421564"/>
                  </a:lnTo>
                  <a:lnTo>
                    <a:pt x="354964" y="2432811"/>
                  </a:lnTo>
                  <a:lnTo>
                    <a:pt x="332485" y="2444877"/>
                  </a:lnTo>
                  <a:lnTo>
                    <a:pt x="372273" y="2444877"/>
                  </a:lnTo>
                  <a:lnTo>
                    <a:pt x="371221" y="2409571"/>
                  </a:lnTo>
                  <a:close/>
                </a:path>
                <a:path w="374015" h="2494915">
                  <a:moveTo>
                    <a:pt x="177679" y="72137"/>
                  </a:moveTo>
                  <a:lnTo>
                    <a:pt x="152653" y="195071"/>
                  </a:lnTo>
                  <a:lnTo>
                    <a:pt x="132969" y="293496"/>
                  </a:lnTo>
                  <a:lnTo>
                    <a:pt x="113919" y="391540"/>
                  </a:lnTo>
                  <a:lnTo>
                    <a:pt x="95630" y="488950"/>
                  </a:lnTo>
                  <a:lnTo>
                    <a:pt x="78358" y="585469"/>
                  </a:lnTo>
                  <a:lnTo>
                    <a:pt x="62356" y="680974"/>
                  </a:lnTo>
                  <a:lnTo>
                    <a:pt x="47625" y="775588"/>
                  </a:lnTo>
                  <a:lnTo>
                    <a:pt x="34544" y="868679"/>
                  </a:lnTo>
                  <a:lnTo>
                    <a:pt x="23240" y="960501"/>
                  </a:lnTo>
                  <a:lnTo>
                    <a:pt x="13970" y="1050670"/>
                  </a:lnTo>
                  <a:lnTo>
                    <a:pt x="10159" y="1095120"/>
                  </a:lnTo>
                  <a:lnTo>
                    <a:pt x="6857" y="1139063"/>
                  </a:lnTo>
                  <a:lnTo>
                    <a:pt x="4190" y="1182496"/>
                  </a:lnTo>
                  <a:lnTo>
                    <a:pt x="2158" y="1225549"/>
                  </a:lnTo>
                  <a:lnTo>
                    <a:pt x="761" y="1267967"/>
                  </a:lnTo>
                  <a:lnTo>
                    <a:pt x="126" y="1309877"/>
                  </a:lnTo>
                  <a:lnTo>
                    <a:pt x="0" y="1351152"/>
                  </a:lnTo>
                  <a:lnTo>
                    <a:pt x="761" y="1392046"/>
                  </a:lnTo>
                  <a:lnTo>
                    <a:pt x="2158" y="1432178"/>
                  </a:lnTo>
                  <a:lnTo>
                    <a:pt x="4445" y="1471802"/>
                  </a:lnTo>
                  <a:lnTo>
                    <a:pt x="7493" y="1510664"/>
                  </a:lnTo>
                  <a:lnTo>
                    <a:pt x="11302" y="1549018"/>
                  </a:lnTo>
                  <a:lnTo>
                    <a:pt x="21208" y="1623694"/>
                  </a:lnTo>
                  <a:lnTo>
                    <a:pt x="33908" y="1696211"/>
                  </a:lnTo>
                  <a:lnTo>
                    <a:pt x="49149" y="1766569"/>
                  </a:lnTo>
                  <a:lnTo>
                    <a:pt x="66928" y="1834895"/>
                  </a:lnTo>
                  <a:lnTo>
                    <a:pt x="86740" y="1901189"/>
                  </a:lnTo>
                  <a:lnTo>
                    <a:pt x="108711" y="1966086"/>
                  </a:lnTo>
                  <a:lnTo>
                    <a:pt x="132460" y="2029332"/>
                  </a:lnTo>
                  <a:lnTo>
                    <a:pt x="157733" y="2091308"/>
                  </a:lnTo>
                  <a:lnTo>
                    <a:pt x="184530" y="2152015"/>
                  </a:lnTo>
                  <a:lnTo>
                    <a:pt x="212344" y="2211704"/>
                  </a:lnTo>
                  <a:lnTo>
                    <a:pt x="241173" y="2270632"/>
                  </a:lnTo>
                  <a:lnTo>
                    <a:pt x="270890" y="2328798"/>
                  </a:lnTo>
                  <a:lnTo>
                    <a:pt x="301117" y="2386456"/>
                  </a:lnTo>
                  <a:lnTo>
                    <a:pt x="326456" y="2433648"/>
                  </a:lnTo>
                  <a:lnTo>
                    <a:pt x="348923" y="2421564"/>
                  </a:lnTo>
                  <a:lnTo>
                    <a:pt x="323723" y="2374646"/>
                  </a:lnTo>
                  <a:lnTo>
                    <a:pt x="293497" y="2317241"/>
                  </a:lnTo>
                  <a:lnTo>
                    <a:pt x="264032" y="2259456"/>
                  </a:lnTo>
                  <a:lnTo>
                    <a:pt x="235330" y="2201036"/>
                  </a:lnTo>
                  <a:lnTo>
                    <a:pt x="207772" y="2141854"/>
                  </a:lnTo>
                  <a:lnTo>
                    <a:pt x="181355" y="2081656"/>
                  </a:lnTo>
                  <a:lnTo>
                    <a:pt x="156209" y="2020442"/>
                  </a:lnTo>
                  <a:lnTo>
                    <a:pt x="132842" y="1957831"/>
                  </a:lnTo>
                  <a:lnTo>
                    <a:pt x="111125" y="1893950"/>
                  </a:lnTo>
                  <a:lnTo>
                    <a:pt x="91439" y="1828291"/>
                  </a:lnTo>
                  <a:lnTo>
                    <a:pt x="73913" y="1760981"/>
                  </a:lnTo>
                  <a:lnTo>
                    <a:pt x="58927" y="1691639"/>
                  </a:lnTo>
                  <a:lnTo>
                    <a:pt x="46354" y="1620138"/>
                  </a:lnTo>
                  <a:lnTo>
                    <a:pt x="36575" y="1546478"/>
                  </a:lnTo>
                  <a:lnTo>
                    <a:pt x="29845" y="1470278"/>
                  </a:lnTo>
                  <a:lnTo>
                    <a:pt x="27558" y="1431289"/>
                  </a:lnTo>
                  <a:lnTo>
                    <a:pt x="26161" y="1391538"/>
                  </a:lnTo>
                  <a:lnTo>
                    <a:pt x="25400" y="1351152"/>
                  </a:lnTo>
                  <a:lnTo>
                    <a:pt x="25406" y="1309877"/>
                  </a:lnTo>
                  <a:lnTo>
                    <a:pt x="26187" y="1267967"/>
                  </a:lnTo>
                  <a:lnTo>
                    <a:pt x="27558" y="1226692"/>
                  </a:lnTo>
                  <a:lnTo>
                    <a:pt x="29590" y="1184020"/>
                  </a:lnTo>
                  <a:lnTo>
                    <a:pt x="32130" y="1140840"/>
                  </a:lnTo>
                  <a:lnTo>
                    <a:pt x="35432" y="1097279"/>
                  </a:lnTo>
                  <a:lnTo>
                    <a:pt x="39243" y="1053210"/>
                  </a:lnTo>
                  <a:lnTo>
                    <a:pt x="48386" y="963549"/>
                  </a:lnTo>
                  <a:lnTo>
                    <a:pt x="59689" y="872235"/>
                  </a:lnTo>
                  <a:lnTo>
                    <a:pt x="72771" y="779526"/>
                  </a:lnTo>
                  <a:lnTo>
                    <a:pt x="87375" y="685291"/>
                  </a:lnTo>
                  <a:lnTo>
                    <a:pt x="103377" y="589914"/>
                  </a:lnTo>
                  <a:lnTo>
                    <a:pt x="120650" y="493649"/>
                  </a:lnTo>
                  <a:lnTo>
                    <a:pt x="138810" y="396366"/>
                  </a:lnTo>
                  <a:lnTo>
                    <a:pt x="157860" y="298576"/>
                  </a:lnTo>
                  <a:lnTo>
                    <a:pt x="177546" y="200151"/>
                  </a:lnTo>
                  <a:lnTo>
                    <a:pt x="202571" y="77217"/>
                  </a:lnTo>
                  <a:lnTo>
                    <a:pt x="177679" y="72137"/>
                  </a:lnTo>
                  <a:close/>
                </a:path>
                <a:path w="374015" h="2494915">
                  <a:moveTo>
                    <a:pt x="221386" y="59689"/>
                  </a:moveTo>
                  <a:lnTo>
                    <a:pt x="180212" y="59689"/>
                  </a:lnTo>
                  <a:lnTo>
                    <a:pt x="205104" y="64769"/>
                  </a:lnTo>
                  <a:lnTo>
                    <a:pt x="202571" y="77217"/>
                  </a:lnTo>
                  <a:lnTo>
                    <a:pt x="227456" y="82295"/>
                  </a:lnTo>
                  <a:lnTo>
                    <a:pt x="221386" y="59689"/>
                  </a:lnTo>
                  <a:close/>
                </a:path>
                <a:path w="374015" h="2494915">
                  <a:moveTo>
                    <a:pt x="180212" y="59689"/>
                  </a:moveTo>
                  <a:lnTo>
                    <a:pt x="177679" y="72137"/>
                  </a:lnTo>
                  <a:lnTo>
                    <a:pt x="202571" y="77217"/>
                  </a:lnTo>
                  <a:lnTo>
                    <a:pt x="205104" y="64769"/>
                  </a:lnTo>
                  <a:lnTo>
                    <a:pt x="180212" y="59689"/>
                  </a:lnTo>
                  <a:close/>
                </a:path>
                <a:path w="374015" h="2494915">
                  <a:moveTo>
                    <a:pt x="205358" y="0"/>
                  </a:moveTo>
                  <a:lnTo>
                    <a:pt x="152780" y="67055"/>
                  </a:lnTo>
                  <a:lnTo>
                    <a:pt x="177679" y="72137"/>
                  </a:lnTo>
                  <a:lnTo>
                    <a:pt x="180212" y="59689"/>
                  </a:lnTo>
                  <a:lnTo>
                    <a:pt x="221386" y="59689"/>
                  </a:lnTo>
                  <a:lnTo>
                    <a:pt x="20535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5031" y="4789932"/>
              <a:ext cx="550164" cy="550164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35" dirty="0"/>
              <a:t> </a:t>
            </a:r>
            <a:r>
              <a:rPr dirty="0"/>
              <a:t>typical</a:t>
            </a:r>
            <a:r>
              <a:rPr spc="-55" dirty="0"/>
              <a:t> </a:t>
            </a:r>
            <a:r>
              <a:rPr dirty="0"/>
              <a:t>HTTP</a:t>
            </a:r>
            <a:r>
              <a:rPr spc="-45" dirty="0"/>
              <a:t> </a:t>
            </a:r>
            <a:r>
              <a:rPr dirty="0"/>
              <a:t>session</a:t>
            </a:r>
            <a:r>
              <a:rPr spc="-10" dirty="0"/>
              <a:t> </a:t>
            </a:r>
            <a:r>
              <a:rPr dirty="0"/>
              <a:t>(3</a:t>
            </a:r>
            <a:r>
              <a:rPr spc="-35" dirty="0"/>
              <a:t> </a:t>
            </a:r>
            <a:r>
              <a:rPr spc="-10" dirty="0"/>
              <a:t>phases)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614042"/>
            <a:ext cx="4954905" cy="3903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1015365" indent="-4572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52768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client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establishes</a:t>
            </a:r>
            <a:r>
              <a:rPr sz="24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TCP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connection:</a:t>
            </a:r>
            <a:endParaRPr sz="2400">
              <a:latin typeface="Calibri"/>
              <a:cs typeface="Calibri"/>
            </a:endParaRPr>
          </a:p>
          <a:p>
            <a:pPr marL="1033780" marR="233679" lvl="1" indent="-457834">
              <a:lnSpc>
                <a:spcPct val="100000"/>
              </a:lnSpc>
              <a:spcBef>
                <a:spcPts val="575"/>
              </a:spcBef>
              <a:buSzPct val="89583"/>
              <a:buFont typeface="Wingdings"/>
              <a:buChar char=""/>
              <a:tabLst>
                <a:tab pos="103378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client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must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know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IP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address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port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number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desired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endParaRPr sz="2400">
              <a:latin typeface="Calibri"/>
              <a:cs typeface="Calibri"/>
            </a:endParaRPr>
          </a:p>
          <a:p>
            <a:pPr marL="476884" marR="233679" indent="-46482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76884" algn="l"/>
                <a:tab pos="52768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	The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client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sends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request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server,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waits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answer</a:t>
            </a:r>
            <a:endParaRPr sz="2400">
              <a:latin typeface="Calibri"/>
              <a:cs typeface="Calibri"/>
            </a:endParaRPr>
          </a:p>
          <a:p>
            <a:pPr marL="476884" marR="5080" indent="-46482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476884" algn="l"/>
                <a:tab pos="52768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	The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processes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request,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sending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back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answer,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providing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status</a:t>
            </a:r>
            <a:r>
              <a:rPr sz="2400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code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returned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600" y="1447800"/>
            <a:ext cx="3066288" cy="26563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0200" y="4343400"/>
            <a:ext cx="3631692" cy="1676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3561" y="2082546"/>
            <a:ext cx="24345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/>
              <a:t>Cookies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HTTP</a:t>
            </a:r>
            <a:r>
              <a:rPr spc="-10" dirty="0"/>
              <a:t> Cookies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214602"/>
            <a:ext cx="6297930" cy="5078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890" indent="-342900">
              <a:lnSpc>
                <a:spcPct val="11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HTTP</a:t>
            </a:r>
            <a:r>
              <a:rPr sz="23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cookie</a:t>
            </a:r>
            <a:r>
              <a:rPr sz="23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3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3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small</a:t>
            </a:r>
            <a:r>
              <a:rPr sz="23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piece</a:t>
            </a:r>
            <a:r>
              <a:rPr sz="23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3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text</a:t>
            </a:r>
            <a:r>
              <a:rPr sz="23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file</a:t>
            </a:r>
            <a:r>
              <a:rPr sz="23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3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is </a:t>
            </a:r>
            <a:r>
              <a:rPr sz="2300" spc="-10" dirty="0">
                <a:solidFill>
                  <a:srgbClr val="404040"/>
                </a:solidFill>
                <a:latin typeface="Calibri"/>
                <a:cs typeface="Calibri"/>
              </a:rPr>
              <a:t>downloaded</a:t>
            </a:r>
            <a:r>
              <a:rPr sz="23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onto</a:t>
            </a:r>
            <a:r>
              <a:rPr sz="23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‘terminal</a:t>
            </a:r>
            <a:r>
              <a:rPr sz="23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equipment’</a:t>
            </a:r>
            <a:r>
              <a:rPr sz="23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after</a:t>
            </a:r>
            <a:r>
              <a:rPr sz="23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404040"/>
                </a:solidFill>
                <a:latin typeface="Calibri"/>
                <a:cs typeface="Calibri"/>
              </a:rPr>
              <a:t>sent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3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3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3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3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user's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browser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23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23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accesses</a:t>
            </a:r>
            <a:r>
              <a:rPr sz="23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3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alibri"/>
                <a:cs typeface="Calibri"/>
              </a:rPr>
              <a:t>website:</a:t>
            </a:r>
            <a:endParaRPr sz="2300">
              <a:latin typeface="Calibri"/>
              <a:cs typeface="Calibri"/>
            </a:endParaRPr>
          </a:p>
          <a:p>
            <a:pPr marL="862965" marR="1343660" lvl="1" indent="-393700">
              <a:lnSpc>
                <a:spcPct val="110000"/>
              </a:lnSpc>
              <a:spcBef>
                <a:spcPts val="825"/>
              </a:spcBef>
              <a:buSzPct val="88095"/>
              <a:buFont typeface="Wingdings"/>
              <a:buChar char=""/>
              <a:tabLst>
                <a:tab pos="862965" algn="l"/>
              </a:tabLst>
            </a:pPr>
            <a:r>
              <a:rPr sz="21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1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404040"/>
                </a:solidFill>
                <a:latin typeface="Calibri"/>
                <a:cs typeface="Calibri"/>
              </a:rPr>
              <a:t>remembers</a:t>
            </a:r>
            <a:r>
              <a:rPr sz="21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404040"/>
                </a:solidFill>
                <a:latin typeface="Calibri"/>
                <a:cs typeface="Calibri"/>
              </a:rPr>
              <a:t>stateful</a:t>
            </a:r>
            <a:r>
              <a:rPr sz="21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21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404040"/>
                </a:solidFill>
                <a:latin typeface="Calibri"/>
                <a:cs typeface="Calibri"/>
              </a:rPr>
              <a:t>for </a:t>
            </a:r>
            <a:r>
              <a:rPr sz="21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1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1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stateless</a:t>
            </a:r>
            <a:r>
              <a:rPr sz="2100" spc="-35" dirty="0">
                <a:solidFill>
                  <a:srgbClr val="009999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404040"/>
                </a:solidFill>
                <a:latin typeface="Calibri"/>
                <a:cs typeface="Calibri"/>
              </a:rPr>
              <a:t>HTTP</a:t>
            </a:r>
            <a:r>
              <a:rPr sz="21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404040"/>
                </a:solidFill>
                <a:latin typeface="Calibri"/>
                <a:cs typeface="Calibri"/>
              </a:rPr>
              <a:t>protocol</a:t>
            </a:r>
            <a:endParaRPr sz="2100">
              <a:latin typeface="Calibri"/>
              <a:cs typeface="Calibri"/>
            </a:endParaRPr>
          </a:p>
          <a:p>
            <a:pPr marL="355600" marR="544830" indent="-342900">
              <a:lnSpc>
                <a:spcPct val="100000"/>
              </a:lnSpc>
              <a:spcBef>
                <a:spcPts val="930"/>
              </a:spcBef>
              <a:buFont typeface="Wingdings"/>
              <a:buChar char=""/>
              <a:tabLst>
                <a:tab pos="355600" algn="l"/>
              </a:tabLst>
            </a:pP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3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allows</a:t>
            </a:r>
            <a:r>
              <a:rPr sz="23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3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website</a:t>
            </a:r>
            <a:r>
              <a:rPr sz="23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3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recognise</a:t>
            </a:r>
            <a:r>
              <a:rPr sz="23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3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user’s 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device</a:t>
            </a:r>
            <a:r>
              <a:rPr sz="23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3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store</a:t>
            </a:r>
            <a:r>
              <a:rPr sz="23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23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23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about</a:t>
            </a:r>
            <a:r>
              <a:rPr sz="23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user’s</a:t>
            </a:r>
            <a:r>
              <a:rPr sz="23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preferences</a:t>
            </a:r>
            <a:r>
              <a:rPr sz="2300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3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0000FF"/>
                </a:solidFill>
                <a:latin typeface="Calibri"/>
                <a:cs typeface="Calibri"/>
              </a:rPr>
              <a:t>past</a:t>
            </a:r>
            <a:r>
              <a:rPr sz="2300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0000FF"/>
                </a:solidFill>
                <a:latin typeface="Calibri"/>
                <a:cs typeface="Calibri"/>
              </a:rPr>
              <a:t>actions</a:t>
            </a:r>
            <a:endParaRPr sz="2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Font typeface="Wingdings"/>
              <a:buChar char=""/>
              <a:tabLst>
                <a:tab pos="354965" algn="l"/>
              </a:tabLst>
            </a:pP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23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receiving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3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HTTP</a:t>
            </a:r>
            <a:r>
              <a:rPr sz="23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request,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3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endParaRPr sz="23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send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3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Set-</a:t>
            </a:r>
            <a:r>
              <a:rPr sz="23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Cookie</a:t>
            </a:r>
            <a:r>
              <a:rPr sz="23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header</a:t>
            </a:r>
            <a:r>
              <a:rPr sz="23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3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3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404040"/>
                </a:solidFill>
                <a:latin typeface="Calibri"/>
                <a:cs typeface="Calibri"/>
              </a:rPr>
              <a:t>HTTP</a:t>
            </a:r>
            <a:r>
              <a:rPr sz="23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endParaRPr sz="2300">
              <a:latin typeface="Calibri"/>
              <a:cs typeface="Calibri"/>
            </a:endParaRPr>
          </a:p>
          <a:p>
            <a:pPr marL="862965" marR="2219325" lvl="1" indent="-393700">
              <a:lnSpc>
                <a:spcPct val="100000"/>
              </a:lnSpc>
              <a:spcBef>
                <a:spcPts val="705"/>
              </a:spcBef>
              <a:buSzPct val="88095"/>
              <a:buFont typeface="Wingdings"/>
              <a:buChar char=""/>
              <a:tabLst>
                <a:tab pos="862965" algn="l"/>
              </a:tabLst>
            </a:pPr>
            <a:r>
              <a:rPr sz="2100" spc="-25" dirty="0">
                <a:solidFill>
                  <a:srgbClr val="404040"/>
                </a:solidFill>
                <a:latin typeface="Courier New"/>
                <a:cs typeface="Courier New"/>
              </a:rPr>
              <a:t>Set-</a:t>
            </a:r>
            <a:r>
              <a:rPr sz="2100" dirty="0">
                <a:solidFill>
                  <a:srgbClr val="404040"/>
                </a:solidFill>
                <a:latin typeface="Courier New"/>
                <a:cs typeface="Courier New"/>
              </a:rPr>
              <a:t>Cookie:</a:t>
            </a:r>
            <a:r>
              <a:rPr sz="2100" spc="-6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404040"/>
                </a:solidFill>
                <a:latin typeface="Courier New"/>
                <a:cs typeface="Courier New"/>
              </a:rPr>
              <a:t>&lt;cookie- </a:t>
            </a:r>
            <a:r>
              <a:rPr sz="2100" spc="-20" dirty="0">
                <a:solidFill>
                  <a:srgbClr val="404040"/>
                </a:solidFill>
                <a:latin typeface="Courier New"/>
                <a:cs typeface="Courier New"/>
              </a:rPr>
              <a:t>name&gt;=&lt;cookie-</a:t>
            </a:r>
            <a:r>
              <a:rPr sz="2100" spc="-10" dirty="0">
                <a:solidFill>
                  <a:srgbClr val="404040"/>
                </a:solidFill>
                <a:latin typeface="Courier New"/>
                <a:cs typeface="Courier New"/>
              </a:rPr>
              <a:t>value&gt;</a:t>
            </a:r>
            <a:endParaRPr sz="21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09963" y="1981200"/>
            <a:ext cx="2208530" cy="3639820"/>
            <a:chOff x="6909963" y="1981200"/>
            <a:chExt cx="2208530" cy="363982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8956" y="4288600"/>
              <a:ext cx="1469136" cy="1332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3276" y="1981200"/>
              <a:ext cx="920496" cy="1120139"/>
            </a:xfrm>
            <a:prstGeom prst="rect">
              <a:avLst/>
            </a:prstGeom>
          </p:spPr>
        </p:pic>
        <p:pic>
          <p:nvPicPr>
            <p:cNvPr id="7" name="object 7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40268" y="4565904"/>
              <a:ext cx="379475" cy="385572"/>
            </a:xfrm>
            <a:prstGeom prst="rect">
              <a:avLst/>
            </a:prstGeom>
          </p:spPr>
        </p:pic>
        <p:pic>
          <p:nvPicPr>
            <p:cNvPr id="8" name="object 8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38388" y="4700016"/>
              <a:ext cx="362711" cy="370331"/>
            </a:xfrm>
            <a:prstGeom prst="rect">
              <a:avLst/>
            </a:prstGeom>
          </p:spPr>
        </p:pic>
        <p:pic>
          <p:nvPicPr>
            <p:cNvPr id="9" name="object 9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81416" y="4812792"/>
              <a:ext cx="379475" cy="385572"/>
            </a:xfrm>
            <a:prstGeom prst="rect">
              <a:avLst/>
            </a:prstGeom>
          </p:spPr>
        </p:pic>
        <p:pic>
          <p:nvPicPr>
            <p:cNvPr id="10" name="object 10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78012" y="4948427"/>
              <a:ext cx="364235" cy="368807"/>
            </a:xfrm>
            <a:prstGeom prst="rect">
              <a:avLst/>
            </a:prstGeom>
          </p:spPr>
        </p:pic>
        <p:pic>
          <p:nvPicPr>
            <p:cNvPr id="11" name="object 11">
              <a:hlinkClick r:id="rId10"/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09963" y="4592063"/>
              <a:ext cx="677937" cy="65045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338566" y="2966466"/>
              <a:ext cx="163195" cy="1607820"/>
            </a:xfrm>
            <a:custGeom>
              <a:avLst/>
              <a:gdLst/>
              <a:ahLst/>
              <a:cxnLst/>
              <a:rect l="l" t="t" r="r" b="b"/>
              <a:pathLst>
                <a:path w="163195" h="1607820">
                  <a:moveTo>
                    <a:pt x="0" y="1526286"/>
                  </a:moveTo>
                  <a:lnTo>
                    <a:pt x="40766" y="1526286"/>
                  </a:lnTo>
                  <a:lnTo>
                    <a:pt x="40766" y="0"/>
                  </a:lnTo>
                  <a:lnTo>
                    <a:pt x="122300" y="0"/>
                  </a:lnTo>
                  <a:lnTo>
                    <a:pt x="122300" y="1526286"/>
                  </a:lnTo>
                  <a:lnTo>
                    <a:pt x="163067" y="1526286"/>
                  </a:lnTo>
                  <a:lnTo>
                    <a:pt x="81533" y="1607820"/>
                  </a:lnTo>
                  <a:lnTo>
                    <a:pt x="0" y="1526286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64118" y="2966466"/>
              <a:ext cx="154305" cy="1704339"/>
            </a:xfrm>
            <a:custGeom>
              <a:avLst/>
              <a:gdLst/>
              <a:ahLst/>
              <a:cxnLst/>
              <a:rect l="l" t="t" r="r" b="b"/>
              <a:pathLst>
                <a:path w="154304" h="1704339">
                  <a:moveTo>
                    <a:pt x="0" y="76962"/>
                  </a:moveTo>
                  <a:lnTo>
                    <a:pt x="76961" y="0"/>
                  </a:lnTo>
                  <a:lnTo>
                    <a:pt x="153924" y="76962"/>
                  </a:lnTo>
                  <a:lnTo>
                    <a:pt x="115442" y="76962"/>
                  </a:lnTo>
                  <a:lnTo>
                    <a:pt x="115442" y="1703832"/>
                  </a:lnTo>
                  <a:lnTo>
                    <a:pt x="38480" y="1703832"/>
                  </a:lnTo>
                  <a:lnTo>
                    <a:pt x="38480" y="76962"/>
                  </a:lnTo>
                  <a:lnTo>
                    <a:pt x="0" y="76962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03820" y="4738116"/>
              <a:ext cx="393192" cy="3810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518654" y="4863845"/>
              <a:ext cx="788035" cy="151130"/>
            </a:xfrm>
            <a:custGeom>
              <a:avLst/>
              <a:gdLst/>
              <a:ahLst/>
              <a:cxnLst/>
              <a:rect l="l" t="t" r="r" b="b"/>
              <a:pathLst>
                <a:path w="788034" h="151129">
                  <a:moveTo>
                    <a:pt x="0" y="36956"/>
                  </a:moveTo>
                  <a:lnTo>
                    <a:pt x="243077" y="36956"/>
                  </a:lnTo>
                  <a:lnTo>
                    <a:pt x="243077" y="0"/>
                  </a:lnTo>
                  <a:lnTo>
                    <a:pt x="316992" y="73913"/>
                  </a:lnTo>
                  <a:lnTo>
                    <a:pt x="243077" y="147827"/>
                  </a:lnTo>
                  <a:lnTo>
                    <a:pt x="243077" y="110870"/>
                  </a:lnTo>
                  <a:lnTo>
                    <a:pt x="0" y="110870"/>
                  </a:lnTo>
                  <a:lnTo>
                    <a:pt x="0" y="36956"/>
                  </a:lnTo>
                  <a:close/>
                </a:path>
                <a:path w="788034" h="151129">
                  <a:moveTo>
                    <a:pt x="470916" y="38861"/>
                  </a:moveTo>
                  <a:lnTo>
                    <a:pt x="713231" y="38861"/>
                  </a:lnTo>
                  <a:lnTo>
                    <a:pt x="713231" y="1523"/>
                  </a:lnTo>
                  <a:lnTo>
                    <a:pt x="787907" y="76199"/>
                  </a:lnTo>
                  <a:lnTo>
                    <a:pt x="713231" y="150875"/>
                  </a:lnTo>
                  <a:lnTo>
                    <a:pt x="713231" y="113537"/>
                  </a:lnTo>
                  <a:lnTo>
                    <a:pt x="470916" y="113537"/>
                  </a:lnTo>
                  <a:lnTo>
                    <a:pt x="470916" y="38861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25562" y="3027425"/>
              <a:ext cx="154305" cy="1704339"/>
            </a:xfrm>
            <a:custGeom>
              <a:avLst/>
              <a:gdLst/>
              <a:ahLst/>
              <a:cxnLst/>
              <a:rect l="l" t="t" r="r" b="b"/>
              <a:pathLst>
                <a:path w="154304" h="1704339">
                  <a:moveTo>
                    <a:pt x="0" y="76962"/>
                  </a:moveTo>
                  <a:lnTo>
                    <a:pt x="76962" y="0"/>
                  </a:lnTo>
                  <a:lnTo>
                    <a:pt x="153924" y="76962"/>
                  </a:lnTo>
                  <a:lnTo>
                    <a:pt x="115443" y="76962"/>
                  </a:lnTo>
                  <a:lnTo>
                    <a:pt x="115443" y="1703832"/>
                  </a:lnTo>
                  <a:lnTo>
                    <a:pt x="38481" y="1703832"/>
                  </a:lnTo>
                  <a:lnTo>
                    <a:pt x="38481" y="76962"/>
                  </a:lnTo>
                  <a:lnTo>
                    <a:pt x="0" y="76962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HTTP</a:t>
            </a:r>
            <a:r>
              <a:rPr spc="-10" dirty="0"/>
              <a:t> cookies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135846"/>
            <a:ext cx="6604634" cy="486473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15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variety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reasons:</a:t>
            </a:r>
            <a:endParaRPr sz="2000">
              <a:latin typeface="Calibri"/>
              <a:cs typeface="Calibri"/>
            </a:endParaRPr>
          </a:p>
          <a:p>
            <a:pPr marL="862330" lvl="1" indent="-392430" algn="just">
              <a:lnSpc>
                <a:spcPct val="100000"/>
              </a:lnSpc>
              <a:spcBef>
                <a:spcPts val="360"/>
              </a:spcBef>
              <a:buSzPct val="88235"/>
              <a:buFont typeface="Wingdings"/>
              <a:buChar char=""/>
              <a:tabLst>
                <a:tab pos="862330" algn="l"/>
              </a:tabLst>
            </a:pPr>
            <a:r>
              <a:rPr sz="1700" b="1" spc="-20" dirty="0">
                <a:solidFill>
                  <a:srgbClr val="404040"/>
                </a:solidFill>
                <a:latin typeface="Calibri"/>
                <a:cs typeface="Calibri"/>
              </a:rPr>
              <a:t>PERSONALISATION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00FF"/>
                </a:solidFill>
                <a:latin typeface="Calibri"/>
                <a:cs typeface="Calibri"/>
              </a:rPr>
              <a:t>remember</a:t>
            </a:r>
            <a:r>
              <a:rPr sz="17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00FF"/>
                </a:solidFill>
                <a:latin typeface="Calibri"/>
                <a:cs typeface="Calibri"/>
              </a:rPr>
              <a:t>your</a:t>
            </a:r>
            <a:r>
              <a:rPr sz="1700" spc="-10" dirty="0">
                <a:solidFill>
                  <a:srgbClr val="0000FF"/>
                </a:solidFill>
                <a:latin typeface="Calibri"/>
                <a:cs typeface="Calibri"/>
              </a:rPr>
              <a:t> preferences</a:t>
            </a:r>
            <a:r>
              <a:rPr sz="17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 site:</a:t>
            </a:r>
            <a:endParaRPr sz="1700">
              <a:latin typeface="Calibri"/>
              <a:cs typeface="Calibri"/>
            </a:endParaRPr>
          </a:p>
          <a:p>
            <a:pPr marL="1257935" marR="134620" lvl="2" indent="-331470" algn="just">
              <a:lnSpc>
                <a:spcPts val="1989"/>
              </a:lnSpc>
              <a:spcBef>
                <a:spcPts val="484"/>
              </a:spcBef>
              <a:buSzPct val="79411"/>
              <a:buFont typeface="Wingdings"/>
              <a:buChar char=""/>
              <a:tabLst>
                <a:tab pos="1259205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e.g.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whether</a:t>
            </a:r>
            <a:r>
              <a:rPr sz="17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read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oldest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newest</a:t>
            </a:r>
            <a:r>
              <a:rPr sz="17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comments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first; 	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volume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video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player.</a:t>
            </a:r>
            <a:endParaRPr sz="1700">
              <a:latin typeface="Calibri"/>
              <a:cs typeface="Calibri"/>
            </a:endParaRPr>
          </a:p>
          <a:p>
            <a:pPr marL="862965" lvl="1" indent="-393065" algn="just">
              <a:lnSpc>
                <a:spcPct val="100000"/>
              </a:lnSpc>
              <a:spcBef>
                <a:spcPts val="315"/>
              </a:spcBef>
              <a:buSzPct val="88235"/>
              <a:buFont typeface="Wingdings"/>
              <a:buChar char=""/>
              <a:tabLst>
                <a:tab pos="862965" algn="l"/>
              </a:tabLst>
            </a:pP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TRACKING</a:t>
            </a:r>
            <a:r>
              <a:rPr sz="17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000FF"/>
                </a:solidFill>
                <a:latin typeface="Calibri"/>
                <a:cs typeface="Calibri"/>
              </a:rPr>
              <a:t>understand</a:t>
            </a:r>
            <a:r>
              <a:rPr sz="1700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00FF"/>
                </a:solidFill>
                <a:latin typeface="Calibri"/>
                <a:cs typeface="Calibri"/>
              </a:rPr>
              <a:t>how</a:t>
            </a:r>
            <a:r>
              <a:rPr sz="17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00FF"/>
                </a:solidFill>
                <a:latin typeface="Calibri"/>
                <a:cs typeface="Calibri"/>
              </a:rPr>
              <a:t>using</a:t>
            </a:r>
            <a:r>
              <a:rPr sz="17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site:</a:t>
            </a:r>
            <a:endParaRPr sz="1700">
              <a:latin typeface="Calibri"/>
              <a:cs typeface="Calibri"/>
            </a:endParaRPr>
          </a:p>
          <a:p>
            <a:pPr marL="1257935" marR="5080" lvl="2" indent="-331470" algn="just">
              <a:lnSpc>
                <a:spcPct val="98000"/>
              </a:lnSpc>
              <a:spcBef>
                <a:spcPts val="415"/>
              </a:spcBef>
              <a:buSzPct val="79411"/>
              <a:buFont typeface="Wingdings"/>
              <a:buChar char=""/>
              <a:tabLst>
                <a:tab pos="1259205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e.g.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tell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popular</a:t>
            </a:r>
            <a:r>
              <a:rPr sz="17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news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story</a:t>
            </a:r>
            <a:r>
              <a:rPr sz="17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day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is;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to 	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record</a:t>
            </a:r>
            <a:r>
              <a:rPr sz="17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responded</a:t>
            </a:r>
            <a:r>
              <a:rPr sz="17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new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design</a:t>
            </a:r>
            <a:r>
              <a:rPr sz="17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version</a:t>
            </a:r>
            <a:r>
              <a:rPr sz="17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the 	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site.</a:t>
            </a:r>
            <a:endParaRPr sz="1700">
              <a:latin typeface="Calibri"/>
              <a:cs typeface="Calibri"/>
            </a:endParaRPr>
          </a:p>
          <a:p>
            <a:pPr marL="862965" marR="198120" lvl="1" indent="-393700">
              <a:lnSpc>
                <a:spcPts val="1989"/>
              </a:lnSpc>
              <a:spcBef>
                <a:spcPts val="480"/>
              </a:spcBef>
              <a:buSzPct val="88235"/>
              <a:buFont typeface="Wingdings"/>
              <a:buChar char=""/>
              <a:tabLst>
                <a:tab pos="862965" algn="l"/>
              </a:tabLst>
            </a:pP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SESSION</a:t>
            </a:r>
            <a:r>
              <a:rPr sz="17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b="1" dirty="0">
                <a:solidFill>
                  <a:srgbClr val="404040"/>
                </a:solidFill>
                <a:latin typeface="Calibri"/>
                <a:cs typeface="Calibri"/>
              </a:rPr>
              <a:t>MANAGEMENT</a:t>
            </a:r>
            <a:r>
              <a:rPr sz="1700" b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- for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logging</a:t>
            </a:r>
            <a:r>
              <a:rPr sz="17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17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to</a:t>
            </a:r>
            <a:r>
              <a:rPr sz="17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17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service</a:t>
            </a:r>
            <a:r>
              <a:rPr sz="17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make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sure</a:t>
            </a:r>
            <a:r>
              <a:rPr sz="17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you're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logged</a:t>
            </a:r>
            <a:r>
              <a:rPr sz="17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sz="1700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Calibri"/>
                <a:cs typeface="Calibri"/>
              </a:rPr>
              <a:t>securely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1700">
              <a:latin typeface="Calibri"/>
              <a:cs typeface="Calibri"/>
            </a:endParaRPr>
          </a:p>
          <a:p>
            <a:pPr marL="1259205" marR="274320" lvl="2" indent="-332740">
              <a:lnSpc>
                <a:spcPct val="98000"/>
              </a:lnSpc>
              <a:spcBef>
                <a:spcPts val="355"/>
              </a:spcBef>
              <a:buSzPct val="79411"/>
              <a:buFont typeface="Wingdings"/>
              <a:buChar char=""/>
              <a:tabLst>
                <a:tab pos="1259205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these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contain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17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such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email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address</a:t>
            </a:r>
            <a:r>
              <a:rPr sz="1700" spc="-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your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name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17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17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gave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when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signed</a:t>
            </a:r>
            <a:r>
              <a:rPr sz="17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up</a:t>
            </a:r>
            <a:endParaRPr sz="1700">
              <a:latin typeface="Calibri"/>
              <a:cs typeface="Calibri"/>
            </a:endParaRPr>
          </a:p>
          <a:p>
            <a:pPr marL="1259205" marR="123825" lvl="2" indent="-332740">
              <a:lnSpc>
                <a:spcPts val="2000"/>
              </a:lnSpc>
              <a:spcBef>
                <a:spcPts val="470"/>
              </a:spcBef>
              <a:buSzPct val="79411"/>
              <a:buFont typeface="Wingdings"/>
              <a:buChar char=""/>
              <a:tabLst>
                <a:tab pos="1259205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website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you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signed</a:t>
            </a:r>
            <a:r>
              <a:rPr sz="17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up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is</a:t>
            </a:r>
            <a:r>
              <a:rPr sz="17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17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only</a:t>
            </a:r>
            <a:r>
              <a:rPr sz="1700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site</a:t>
            </a:r>
            <a:r>
              <a:rPr sz="1700" spc="-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access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17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ts val="2085"/>
              </a:lnSpc>
              <a:spcBef>
                <a:spcPts val="204"/>
              </a:spcBef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sent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every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request,</a:t>
            </a:r>
            <a:r>
              <a:rPr sz="18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1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worsen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ts val="2085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performance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(especially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8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mobile</a:t>
            </a:r>
            <a:r>
              <a:rPr sz="18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18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connections)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2892" y="1752600"/>
            <a:ext cx="1021014" cy="1066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74448" y="2980988"/>
            <a:ext cx="2025324" cy="2894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10400" y="3429000"/>
            <a:ext cx="2002536" cy="1235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83" y="5105400"/>
            <a:ext cx="457200" cy="9144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Creating </a:t>
            </a:r>
            <a:r>
              <a:rPr spc="-10" dirty="0"/>
              <a:t>cookies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441450"/>
            <a:ext cx="6840855" cy="1085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1939"/>
              </a:lnSpc>
              <a:spcBef>
                <a:spcPts val="105"/>
              </a:spcBef>
              <a:buFont typeface="Wingdings"/>
              <a:buChar char=""/>
              <a:tabLst>
                <a:tab pos="354965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Cookie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composed</a:t>
            </a:r>
            <a:r>
              <a:rPr sz="17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server-side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program/script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(e.g.,</a:t>
            </a:r>
            <a:r>
              <a:rPr sz="17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PHP)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sent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endParaRPr sz="1700">
              <a:latin typeface="Calibri"/>
              <a:cs typeface="Calibri"/>
            </a:endParaRPr>
          </a:p>
          <a:p>
            <a:pPr marL="355600">
              <a:lnSpc>
                <a:spcPts val="1939"/>
              </a:lnSpc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client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via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“Set-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Cookie”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HTTP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response</a:t>
            </a:r>
            <a:endParaRPr sz="1700">
              <a:latin typeface="Calibri"/>
              <a:cs typeface="Calibri"/>
            </a:endParaRPr>
          </a:p>
          <a:p>
            <a:pPr marL="355600" marR="5080" indent="-342900">
              <a:lnSpc>
                <a:spcPts val="1839"/>
              </a:lnSpc>
              <a:spcBef>
                <a:spcPts val="815"/>
              </a:spcBef>
              <a:buFont typeface="Wingdings"/>
              <a:buChar char=""/>
              <a:tabLst>
                <a:tab pos="355600" algn="l"/>
              </a:tabLst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cookie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00FF"/>
                </a:solidFill>
                <a:latin typeface="Calibri"/>
                <a:cs typeface="Calibri"/>
              </a:rPr>
              <a:t>stored</a:t>
            </a:r>
            <a:r>
              <a:rPr sz="17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00FF"/>
                </a:solidFill>
                <a:latin typeface="Calibri"/>
                <a:cs typeface="Calibri"/>
              </a:rPr>
              <a:t>by</a:t>
            </a:r>
            <a:r>
              <a:rPr sz="17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17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00FF"/>
                </a:solidFill>
                <a:latin typeface="Calibri"/>
                <a:cs typeface="Calibri"/>
              </a:rPr>
              <a:t>browser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17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cookie is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sent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with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requests</a:t>
            </a:r>
            <a:r>
              <a:rPr sz="17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made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to the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same</a:t>
            </a:r>
            <a:r>
              <a:rPr sz="17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17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inside</a:t>
            </a:r>
            <a:r>
              <a:rPr sz="17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Cookie</a:t>
            </a:r>
            <a:r>
              <a:rPr sz="17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HTTP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Calibri"/>
                <a:cs typeface="Calibri"/>
              </a:rPr>
              <a:t>header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09963" y="1981200"/>
            <a:ext cx="2208530" cy="3639820"/>
            <a:chOff x="6909963" y="1981200"/>
            <a:chExt cx="2208530" cy="36398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8956" y="4288600"/>
              <a:ext cx="1469136" cy="13322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23276" y="1981200"/>
              <a:ext cx="920496" cy="1120139"/>
            </a:xfrm>
            <a:prstGeom prst="rect">
              <a:avLst/>
            </a:prstGeom>
          </p:spPr>
        </p:pic>
        <p:pic>
          <p:nvPicPr>
            <p:cNvPr id="7" name="object 7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0268" y="4565904"/>
              <a:ext cx="379475" cy="385572"/>
            </a:xfrm>
            <a:prstGeom prst="rect">
              <a:avLst/>
            </a:prstGeom>
          </p:spPr>
        </p:pic>
        <p:pic>
          <p:nvPicPr>
            <p:cNvPr id="8" name="object 8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38388" y="4700016"/>
              <a:ext cx="362711" cy="370331"/>
            </a:xfrm>
            <a:prstGeom prst="rect">
              <a:avLst/>
            </a:prstGeom>
          </p:spPr>
        </p:pic>
        <p:pic>
          <p:nvPicPr>
            <p:cNvPr id="9" name="object 9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1416" y="4812792"/>
              <a:ext cx="379475" cy="385572"/>
            </a:xfrm>
            <a:prstGeom prst="rect">
              <a:avLst/>
            </a:prstGeom>
          </p:spPr>
        </p:pic>
        <p:pic>
          <p:nvPicPr>
            <p:cNvPr id="10" name="object 10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78012" y="4948427"/>
              <a:ext cx="364235" cy="368807"/>
            </a:xfrm>
            <a:prstGeom prst="rect">
              <a:avLst/>
            </a:prstGeom>
          </p:spPr>
        </p:pic>
        <p:pic>
          <p:nvPicPr>
            <p:cNvPr id="11" name="object 11">
              <a:hlinkClick r:id="rId9"/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09963" y="4592063"/>
              <a:ext cx="677937" cy="65045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338566" y="2966466"/>
              <a:ext cx="163195" cy="1607820"/>
            </a:xfrm>
            <a:custGeom>
              <a:avLst/>
              <a:gdLst/>
              <a:ahLst/>
              <a:cxnLst/>
              <a:rect l="l" t="t" r="r" b="b"/>
              <a:pathLst>
                <a:path w="163195" h="1607820">
                  <a:moveTo>
                    <a:pt x="0" y="1526286"/>
                  </a:moveTo>
                  <a:lnTo>
                    <a:pt x="40766" y="1526286"/>
                  </a:lnTo>
                  <a:lnTo>
                    <a:pt x="40766" y="0"/>
                  </a:lnTo>
                  <a:lnTo>
                    <a:pt x="122300" y="0"/>
                  </a:lnTo>
                  <a:lnTo>
                    <a:pt x="122300" y="1526286"/>
                  </a:lnTo>
                  <a:lnTo>
                    <a:pt x="163067" y="1526286"/>
                  </a:lnTo>
                  <a:lnTo>
                    <a:pt x="81533" y="1607820"/>
                  </a:lnTo>
                  <a:lnTo>
                    <a:pt x="0" y="1526286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64118" y="2966466"/>
              <a:ext cx="154305" cy="1704339"/>
            </a:xfrm>
            <a:custGeom>
              <a:avLst/>
              <a:gdLst/>
              <a:ahLst/>
              <a:cxnLst/>
              <a:rect l="l" t="t" r="r" b="b"/>
              <a:pathLst>
                <a:path w="154304" h="1704339">
                  <a:moveTo>
                    <a:pt x="0" y="76962"/>
                  </a:moveTo>
                  <a:lnTo>
                    <a:pt x="76961" y="0"/>
                  </a:lnTo>
                  <a:lnTo>
                    <a:pt x="153924" y="76962"/>
                  </a:lnTo>
                  <a:lnTo>
                    <a:pt x="115442" y="76962"/>
                  </a:lnTo>
                  <a:lnTo>
                    <a:pt x="115442" y="1703832"/>
                  </a:lnTo>
                  <a:lnTo>
                    <a:pt x="38480" y="1703832"/>
                  </a:lnTo>
                  <a:lnTo>
                    <a:pt x="38480" y="76962"/>
                  </a:lnTo>
                  <a:lnTo>
                    <a:pt x="0" y="76962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03820" y="4738116"/>
              <a:ext cx="393192" cy="3810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518654" y="4863845"/>
              <a:ext cx="788035" cy="151130"/>
            </a:xfrm>
            <a:custGeom>
              <a:avLst/>
              <a:gdLst/>
              <a:ahLst/>
              <a:cxnLst/>
              <a:rect l="l" t="t" r="r" b="b"/>
              <a:pathLst>
                <a:path w="788034" h="151129">
                  <a:moveTo>
                    <a:pt x="0" y="36956"/>
                  </a:moveTo>
                  <a:lnTo>
                    <a:pt x="243077" y="36956"/>
                  </a:lnTo>
                  <a:lnTo>
                    <a:pt x="243077" y="0"/>
                  </a:lnTo>
                  <a:lnTo>
                    <a:pt x="316992" y="73913"/>
                  </a:lnTo>
                  <a:lnTo>
                    <a:pt x="243077" y="147827"/>
                  </a:lnTo>
                  <a:lnTo>
                    <a:pt x="243077" y="110870"/>
                  </a:lnTo>
                  <a:lnTo>
                    <a:pt x="0" y="110870"/>
                  </a:lnTo>
                  <a:lnTo>
                    <a:pt x="0" y="36956"/>
                  </a:lnTo>
                  <a:close/>
                </a:path>
                <a:path w="788034" h="151129">
                  <a:moveTo>
                    <a:pt x="470916" y="38861"/>
                  </a:moveTo>
                  <a:lnTo>
                    <a:pt x="713231" y="38861"/>
                  </a:lnTo>
                  <a:lnTo>
                    <a:pt x="713231" y="1523"/>
                  </a:lnTo>
                  <a:lnTo>
                    <a:pt x="787907" y="76199"/>
                  </a:lnTo>
                  <a:lnTo>
                    <a:pt x="713231" y="150875"/>
                  </a:lnTo>
                  <a:lnTo>
                    <a:pt x="713231" y="113537"/>
                  </a:lnTo>
                  <a:lnTo>
                    <a:pt x="470916" y="113537"/>
                  </a:lnTo>
                  <a:lnTo>
                    <a:pt x="470916" y="38861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25562" y="3027425"/>
              <a:ext cx="154305" cy="1704339"/>
            </a:xfrm>
            <a:custGeom>
              <a:avLst/>
              <a:gdLst/>
              <a:ahLst/>
              <a:cxnLst/>
              <a:rect l="l" t="t" r="r" b="b"/>
              <a:pathLst>
                <a:path w="154304" h="1704339">
                  <a:moveTo>
                    <a:pt x="0" y="76962"/>
                  </a:moveTo>
                  <a:lnTo>
                    <a:pt x="76962" y="0"/>
                  </a:lnTo>
                  <a:lnTo>
                    <a:pt x="153924" y="76962"/>
                  </a:lnTo>
                  <a:lnTo>
                    <a:pt x="115443" y="76962"/>
                  </a:lnTo>
                  <a:lnTo>
                    <a:pt x="115443" y="1703832"/>
                  </a:lnTo>
                  <a:lnTo>
                    <a:pt x="38481" y="1703832"/>
                  </a:lnTo>
                  <a:lnTo>
                    <a:pt x="38481" y="76962"/>
                  </a:lnTo>
                  <a:lnTo>
                    <a:pt x="0" y="76962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21033" y="2743200"/>
            <a:ext cx="6336966" cy="358749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8762" y="6096000"/>
            <a:ext cx="9163050" cy="772795"/>
            <a:chOff x="-8762" y="6096000"/>
            <a:chExt cx="9163050" cy="772795"/>
          </a:xfrm>
        </p:grpSpPr>
        <p:sp>
          <p:nvSpPr>
            <p:cNvPr id="3" name="object 3"/>
            <p:cNvSpPr/>
            <p:nvPr/>
          </p:nvSpPr>
          <p:spPr>
            <a:xfrm>
              <a:off x="762" y="6477761"/>
              <a:ext cx="9144000" cy="381000"/>
            </a:xfrm>
            <a:custGeom>
              <a:avLst/>
              <a:gdLst/>
              <a:ahLst/>
              <a:cxnLst/>
              <a:rect l="l" t="t" r="r" b="b"/>
              <a:pathLst>
                <a:path w="9144000" h="381000">
                  <a:moveTo>
                    <a:pt x="91440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9144000" y="381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5392">
                <a:alpha val="3411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2" y="6477761"/>
              <a:ext cx="9144000" cy="381000"/>
            </a:xfrm>
            <a:custGeom>
              <a:avLst/>
              <a:gdLst/>
              <a:ahLst/>
              <a:cxnLst/>
              <a:rect l="l" t="t" r="r" b="b"/>
              <a:pathLst>
                <a:path w="9144000" h="381000">
                  <a:moveTo>
                    <a:pt x="0" y="381000"/>
                  </a:moveTo>
                  <a:lnTo>
                    <a:pt x="9144000" y="3810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53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0" y="6096000"/>
              <a:ext cx="609600" cy="60960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15200" y="457200"/>
            <a:ext cx="1524000" cy="45262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28600" y="1028700"/>
            <a:ext cx="8648700" cy="76200"/>
          </a:xfrm>
          <a:custGeom>
            <a:avLst/>
            <a:gdLst/>
            <a:ahLst/>
            <a:cxnLst/>
            <a:rect l="l" t="t" r="r" b="b"/>
            <a:pathLst>
              <a:path w="8648700" h="76200">
                <a:moveTo>
                  <a:pt x="8610600" y="0"/>
                </a:moveTo>
                <a:lnTo>
                  <a:pt x="8595752" y="2988"/>
                </a:lnTo>
                <a:lnTo>
                  <a:pt x="8583644" y="11144"/>
                </a:lnTo>
                <a:lnTo>
                  <a:pt x="8575488" y="23252"/>
                </a:lnTo>
                <a:lnTo>
                  <a:pt x="8572500" y="38100"/>
                </a:lnTo>
                <a:lnTo>
                  <a:pt x="8575488" y="52947"/>
                </a:lnTo>
                <a:lnTo>
                  <a:pt x="8583644" y="65055"/>
                </a:lnTo>
                <a:lnTo>
                  <a:pt x="8595752" y="73211"/>
                </a:lnTo>
                <a:lnTo>
                  <a:pt x="8610600" y="76200"/>
                </a:lnTo>
                <a:lnTo>
                  <a:pt x="8625447" y="73211"/>
                </a:lnTo>
                <a:lnTo>
                  <a:pt x="8637555" y="65055"/>
                </a:lnTo>
                <a:lnTo>
                  <a:pt x="8645711" y="52947"/>
                </a:lnTo>
                <a:lnTo>
                  <a:pt x="8647421" y="44450"/>
                </a:lnTo>
                <a:lnTo>
                  <a:pt x="8610600" y="44450"/>
                </a:lnTo>
                <a:lnTo>
                  <a:pt x="8610600" y="31750"/>
                </a:lnTo>
                <a:lnTo>
                  <a:pt x="8647421" y="31750"/>
                </a:lnTo>
                <a:lnTo>
                  <a:pt x="8645711" y="23252"/>
                </a:lnTo>
                <a:lnTo>
                  <a:pt x="8637555" y="11144"/>
                </a:lnTo>
                <a:lnTo>
                  <a:pt x="8625447" y="2988"/>
                </a:lnTo>
                <a:lnTo>
                  <a:pt x="8610600" y="0"/>
                </a:lnTo>
                <a:close/>
              </a:path>
              <a:path w="8648700" h="76200">
                <a:moveTo>
                  <a:pt x="857377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573778" y="44450"/>
                </a:lnTo>
                <a:lnTo>
                  <a:pt x="8572500" y="38100"/>
                </a:lnTo>
                <a:lnTo>
                  <a:pt x="8573778" y="31750"/>
                </a:lnTo>
                <a:close/>
              </a:path>
              <a:path w="8648700" h="76200">
                <a:moveTo>
                  <a:pt x="8647421" y="31750"/>
                </a:moveTo>
                <a:lnTo>
                  <a:pt x="8610600" y="31750"/>
                </a:lnTo>
                <a:lnTo>
                  <a:pt x="8610600" y="44450"/>
                </a:lnTo>
                <a:lnTo>
                  <a:pt x="8647421" y="44450"/>
                </a:lnTo>
                <a:lnTo>
                  <a:pt x="8648700" y="38100"/>
                </a:lnTo>
                <a:lnTo>
                  <a:pt x="8647421" y="31750"/>
                </a:lnTo>
                <a:close/>
              </a:path>
            </a:pathLst>
          </a:custGeom>
          <a:solidFill>
            <a:srgbClr val="B59B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HTTP</a:t>
            </a:r>
            <a:r>
              <a:rPr spc="-10" dirty="0"/>
              <a:t> cookies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" y="1600200"/>
            <a:ext cx="8382000" cy="41910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Session</a:t>
            </a:r>
            <a:r>
              <a:rPr spc="-3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Permanent</a:t>
            </a:r>
            <a:r>
              <a:rPr spc="-60" dirty="0"/>
              <a:t> </a:t>
            </a:r>
            <a:r>
              <a:rPr spc="-10" dirty="0"/>
              <a:t>cookies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155549"/>
            <a:ext cx="8477885" cy="298069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cookie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created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above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404040"/>
                </a:solidFill>
                <a:latin typeface="Calibri"/>
                <a:cs typeface="Calibri"/>
              </a:rPr>
              <a:t>session</a:t>
            </a:r>
            <a:r>
              <a:rPr sz="2400" i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404040"/>
                </a:solidFill>
                <a:latin typeface="Calibri"/>
                <a:cs typeface="Calibri"/>
              </a:rPr>
              <a:t>cookie</a:t>
            </a:r>
            <a:endParaRPr sz="2400">
              <a:latin typeface="Calibri"/>
              <a:cs typeface="Calibri"/>
            </a:endParaRPr>
          </a:p>
          <a:p>
            <a:pPr marL="862965" marR="878205" lvl="1" indent="-393700">
              <a:lnSpc>
                <a:spcPct val="100000"/>
              </a:lnSpc>
              <a:spcBef>
                <a:spcPts val="509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deleted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client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shuts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down,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because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didn't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specify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Expires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Max-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Age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directive.</a:t>
            </a:r>
            <a:endParaRPr sz="2000">
              <a:latin typeface="Calibri"/>
              <a:cs typeface="Calibri"/>
            </a:endParaRPr>
          </a:p>
          <a:p>
            <a:pPr marL="862965" marR="313690" lvl="1" indent="-393700">
              <a:lnSpc>
                <a:spcPct val="100000"/>
              </a:lnSpc>
              <a:spcBef>
                <a:spcPts val="48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However,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browsers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session</a:t>
            </a:r>
            <a:r>
              <a:rPr sz="20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restoring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makes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most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session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permanent,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browser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was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never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closed.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Instead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expiring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client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closes,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404040"/>
                </a:solidFill>
                <a:latin typeface="Calibri"/>
                <a:cs typeface="Calibri"/>
              </a:rPr>
              <a:t>permanent</a:t>
            </a:r>
            <a:endParaRPr sz="2400">
              <a:latin typeface="Calibri"/>
              <a:cs typeface="Calibri"/>
            </a:endParaRPr>
          </a:p>
          <a:p>
            <a:pPr marL="355600" marR="5080">
              <a:lnSpc>
                <a:spcPct val="100000"/>
              </a:lnSpc>
            </a:pPr>
            <a:r>
              <a:rPr sz="2400" i="1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2400" i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expire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date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(Expires)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after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length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time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(Max-Age).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2914" y="4394168"/>
            <a:ext cx="8308975" cy="2312035"/>
            <a:chOff x="682914" y="4394168"/>
            <a:chExt cx="8308975" cy="23120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914" y="4394168"/>
              <a:ext cx="7991693" cy="17493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0" y="6096000"/>
              <a:ext cx="609600" cy="6096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HTTP</a:t>
            </a:r>
            <a:r>
              <a:rPr spc="-10" dirty="0"/>
              <a:t> cookies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482285"/>
            <a:ext cx="7288530" cy="457263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stored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particular</a:t>
            </a:r>
            <a:r>
              <a:rPr sz="24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domain:</a:t>
            </a:r>
            <a:endParaRPr sz="2400">
              <a:latin typeface="Calibri"/>
              <a:cs typeface="Calibri"/>
            </a:endParaRPr>
          </a:p>
          <a:p>
            <a:pPr marL="862965" marR="297815" lvl="1" indent="-393700">
              <a:lnSpc>
                <a:spcPct val="100000"/>
              </a:lnSpc>
              <a:spcBef>
                <a:spcPts val="475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made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accessible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single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domain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name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(e.g.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www.foo.com)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subdomain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names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(e.g.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*.foo.com).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expiration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time:</a:t>
            </a:r>
            <a:endParaRPr sz="24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475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Default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expire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once</a:t>
            </a:r>
            <a:r>
              <a:rPr sz="20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browser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closes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session</a:t>
            </a:r>
            <a:r>
              <a:rPr sz="20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cookies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40"/>
              </a:spcBef>
              <a:buClr>
                <a:srgbClr val="404040"/>
              </a:buClr>
              <a:buFont typeface="Wingdings"/>
              <a:buChar char="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Secure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(*):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made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valid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HTTPS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only</a:t>
            </a:r>
            <a:endParaRPr sz="24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475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secure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cookie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will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sent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request</a:t>
            </a:r>
            <a:endParaRPr sz="2000">
              <a:latin typeface="Calibri"/>
              <a:cs typeface="Calibri"/>
            </a:endParaRPr>
          </a:p>
          <a:p>
            <a:pPr marL="862965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made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SSL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HTTPS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protocol</a:t>
            </a:r>
            <a:endParaRPr sz="2000">
              <a:latin typeface="Calibri"/>
              <a:cs typeface="Calibri"/>
            </a:endParaRPr>
          </a:p>
          <a:p>
            <a:pPr marL="862965" marR="126364" lvl="1" indent="-393700">
              <a:lnSpc>
                <a:spcPct val="100000"/>
              </a:lnSpc>
              <a:spcBef>
                <a:spcPts val="48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However,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confidential</a:t>
            </a:r>
            <a:r>
              <a:rPr sz="20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or</a:t>
            </a:r>
            <a:r>
              <a:rPr sz="20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sensitive</a:t>
            </a:r>
            <a:r>
              <a:rPr sz="20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information</a:t>
            </a:r>
            <a:r>
              <a:rPr sz="20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should</a:t>
            </a:r>
            <a:r>
              <a:rPr sz="2000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never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be</a:t>
            </a:r>
            <a:r>
              <a:rPr sz="2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stored</a:t>
            </a:r>
            <a:r>
              <a:rPr sz="2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or</a:t>
            </a:r>
            <a:r>
              <a:rPr sz="20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transmitted</a:t>
            </a:r>
            <a:r>
              <a:rPr sz="2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HTTP</a:t>
            </a:r>
            <a:r>
              <a:rPr sz="20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0FF"/>
                </a:solidFill>
                <a:latin typeface="Calibri"/>
                <a:cs typeface="Calibri"/>
              </a:rPr>
              <a:t>Cookies</a:t>
            </a:r>
            <a:r>
              <a:rPr sz="20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entire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mechanism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inherently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insecure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doesn't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mean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that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encrypted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2133600"/>
            <a:ext cx="918972" cy="11460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HttpOnly</a:t>
            </a:r>
            <a:r>
              <a:rPr spc="-40" dirty="0"/>
              <a:t> </a:t>
            </a:r>
            <a:r>
              <a:rPr spc="-10" dirty="0"/>
              <a:t>cookies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746389"/>
            <a:ext cx="7353300" cy="321627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4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HttpOnly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(*):</a:t>
            </a:r>
            <a:endParaRPr sz="24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405"/>
              </a:spcBef>
              <a:buSzPct val="88636"/>
              <a:buFont typeface="Wingdings"/>
              <a:buChar char=""/>
              <a:tabLst>
                <a:tab pos="862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available</a:t>
            </a:r>
            <a:r>
              <a:rPr sz="22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endParaRPr sz="2200">
              <a:latin typeface="Calibri"/>
              <a:cs typeface="Calibri"/>
            </a:endParaRPr>
          </a:p>
          <a:p>
            <a:pPr marL="862965" marR="409575" lvl="1" indent="-393700">
              <a:lnSpc>
                <a:spcPct val="100000"/>
              </a:lnSpc>
              <a:spcBef>
                <a:spcPts val="405"/>
              </a:spcBef>
              <a:buSzPct val="88636"/>
              <a:buFont typeface="Wingdings"/>
              <a:buChar char=""/>
              <a:tabLst>
                <a:tab pos="862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HttpOnly</a:t>
            </a:r>
            <a:r>
              <a:rPr sz="2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6FC0"/>
                </a:solidFill>
                <a:latin typeface="Calibri"/>
                <a:cs typeface="Calibri"/>
              </a:rPr>
              <a:t>additional</a:t>
            </a:r>
            <a:r>
              <a:rPr sz="220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6FC0"/>
                </a:solidFill>
                <a:latin typeface="Calibri"/>
                <a:cs typeface="Calibri"/>
              </a:rPr>
              <a:t>flag</a:t>
            </a:r>
            <a:r>
              <a:rPr sz="2200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included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006FC0"/>
                </a:solidFill>
                <a:latin typeface="Calibri"/>
                <a:cs typeface="Calibri"/>
              </a:rPr>
              <a:t>Set-</a:t>
            </a:r>
            <a:r>
              <a:rPr sz="2200" spc="-10" dirty="0">
                <a:solidFill>
                  <a:srgbClr val="006FC0"/>
                </a:solidFill>
                <a:latin typeface="Calibri"/>
                <a:cs typeface="Calibri"/>
              </a:rPr>
              <a:t>Cookie </a:t>
            </a:r>
            <a:r>
              <a:rPr sz="2200" dirty="0">
                <a:solidFill>
                  <a:srgbClr val="006FC0"/>
                </a:solidFill>
                <a:latin typeface="Calibri"/>
                <a:cs typeface="Calibri"/>
              </a:rPr>
              <a:t>HTTP</a:t>
            </a:r>
            <a:r>
              <a:rPr sz="2200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6FC0"/>
                </a:solidFill>
                <a:latin typeface="Calibri"/>
                <a:cs typeface="Calibri"/>
              </a:rPr>
              <a:t>response</a:t>
            </a:r>
            <a:r>
              <a:rPr sz="2200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6FC0"/>
                </a:solidFill>
                <a:latin typeface="Calibri"/>
                <a:cs typeface="Calibri"/>
              </a:rPr>
              <a:t>header</a:t>
            </a:r>
            <a:endParaRPr sz="2200">
              <a:latin typeface="Calibri"/>
              <a:cs typeface="Calibri"/>
            </a:endParaRPr>
          </a:p>
          <a:p>
            <a:pPr marL="862965" marR="185420" lvl="1" indent="-393700">
              <a:lnSpc>
                <a:spcPct val="100000"/>
              </a:lnSpc>
              <a:spcBef>
                <a:spcPts val="400"/>
              </a:spcBef>
              <a:buSzPct val="88636"/>
              <a:buFont typeface="Wingdings"/>
              <a:buChar char=""/>
              <a:tabLst>
                <a:tab pos="862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HttpOnly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flag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generating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2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cookie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helps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mitigate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risk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client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side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script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accessing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protected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cookie.</a:t>
            </a:r>
            <a:endParaRPr sz="2200">
              <a:latin typeface="Calibri"/>
              <a:cs typeface="Calibri"/>
            </a:endParaRPr>
          </a:p>
          <a:p>
            <a:pPr marL="1259205" marR="5080" lvl="2" indent="-332740">
              <a:lnSpc>
                <a:spcPct val="100000"/>
              </a:lnSpc>
              <a:spcBef>
                <a:spcPts val="425"/>
              </a:spcBef>
              <a:buSzPct val="80555"/>
              <a:buFont typeface="Wingdings"/>
              <a:buChar char=""/>
              <a:tabLst>
                <a:tab pos="1259205" algn="l"/>
              </a:tabLst>
            </a:pP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prevent</a:t>
            </a:r>
            <a:r>
              <a:rPr sz="1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alibri"/>
                <a:cs typeface="Calibri"/>
              </a:rPr>
              <a:t>cross-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site</a:t>
            </a:r>
            <a:r>
              <a:rPr sz="18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scripting</a:t>
            </a:r>
            <a:r>
              <a:rPr sz="1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sz="18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XSS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)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attacks,</a:t>
            </a:r>
            <a:r>
              <a:rPr sz="18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HttpOnly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1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are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inaccessible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04040"/>
                </a:solidFill>
                <a:latin typeface="Calibri"/>
                <a:cs typeface="Calibri"/>
              </a:rPr>
              <a:t>JavaScript's</a:t>
            </a:r>
            <a:r>
              <a:rPr sz="18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3"/>
              </a:rPr>
              <a:t>Document.cookie</a:t>
            </a:r>
            <a:r>
              <a:rPr sz="1800" spc="-40" dirty="0">
                <a:solidFill>
                  <a:srgbClr val="00999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Calibri"/>
                <a:cs typeface="Calibri"/>
              </a:rPr>
              <a:t>API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4800" y="5413931"/>
            <a:ext cx="8686800" cy="1292225"/>
            <a:chOff x="304800" y="5413931"/>
            <a:chExt cx="8686800" cy="129222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5413931"/>
              <a:ext cx="8199120" cy="6394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2000" y="6096000"/>
              <a:ext cx="609600" cy="609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843837" y="2586037"/>
            <a:ext cx="1076325" cy="1305560"/>
            <a:chOff x="7843837" y="2586037"/>
            <a:chExt cx="1076325" cy="130556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08620" y="2708147"/>
              <a:ext cx="860965" cy="108051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848600" y="2590800"/>
              <a:ext cx="1066800" cy="1296035"/>
            </a:xfrm>
            <a:custGeom>
              <a:avLst/>
              <a:gdLst/>
              <a:ahLst/>
              <a:cxnLst/>
              <a:rect l="l" t="t" r="r" b="b"/>
              <a:pathLst>
                <a:path w="1066800" h="1296035">
                  <a:moveTo>
                    <a:pt x="0" y="59436"/>
                  </a:moveTo>
                  <a:lnTo>
                    <a:pt x="1066800" y="1295908"/>
                  </a:lnTo>
                </a:path>
                <a:path w="1066800" h="1296035">
                  <a:moveTo>
                    <a:pt x="53340" y="1295400"/>
                  </a:moveTo>
                  <a:lnTo>
                    <a:pt x="1066800" y="0"/>
                  </a:lnTo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Privacy?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232661"/>
            <a:ext cx="7247255" cy="4879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7973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Contrary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common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belief,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cookies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do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not</a:t>
            </a:r>
            <a:r>
              <a:rPr sz="24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Calibri"/>
                <a:cs typeface="Calibri"/>
              </a:rPr>
              <a:t>contain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software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programs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cannot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install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anything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computer</a:t>
            </a:r>
            <a:endParaRPr sz="2400">
              <a:latin typeface="Calibri"/>
              <a:cs typeface="Calibri"/>
            </a:endParaRPr>
          </a:p>
          <a:p>
            <a:pPr marL="355600" marR="207645" indent="-342900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generally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do</a:t>
            </a:r>
            <a:r>
              <a:rPr sz="2400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not</a:t>
            </a:r>
            <a:r>
              <a:rPr sz="24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contain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any</a:t>
            </a:r>
            <a:r>
              <a:rPr sz="24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information</a:t>
            </a:r>
            <a:r>
              <a:rPr sz="2400" spc="-2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that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would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identify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person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Personal</a:t>
            </a:r>
            <a:r>
              <a:rPr sz="2400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6FC0"/>
                </a:solidFill>
                <a:latin typeface="Calibri"/>
                <a:cs typeface="Calibri"/>
              </a:rPr>
              <a:t>Identifiable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Information</a:t>
            </a:r>
            <a:r>
              <a:rPr sz="24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2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Calibri"/>
                <a:cs typeface="Calibri"/>
              </a:rPr>
              <a:t>PII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862965" lvl="1" indent="-393065">
              <a:lnSpc>
                <a:spcPct val="100000"/>
              </a:lnSpc>
              <a:spcBef>
                <a:spcPts val="509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Usually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contain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string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"unique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identifier”</a:t>
            </a:r>
            <a:endParaRPr sz="2000">
              <a:latin typeface="Calibri"/>
              <a:cs typeface="Calibri"/>
            </a:endParaRPr>
          </a:p>
          <a:p>
            <a:pPr marL="862965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acting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label</a:t>
            </a:r>
            <a:endParaRPr sz="2000">
              <a:latin typeface="Calibri"/>
              <a:cs typeface="Calibri"/>
            </a:endParaRPr>
          </a:p>
          <a:p>
            <a:pPr marL="862965" marR="418465" lvl="1" indent="-393700">
              <a:lnSpc>
                <a:spcPct val="100000"/>
              </a:lnSpc>
              <a:spcBef>
                <a:spcPts val="480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website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sees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string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text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cookie,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it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knows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browser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seen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before</a:t>
            </a:r>
            <a:endParaRPr sz="2000">
              <a:latin typeface="Calibri"/>
              <a:cs typeface="Calibri"/>
            </a:endParaRPr>
          </a:p>
          <a:p>
            <a:pPr marL="355600" marR="376555" indent="-342900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However,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may</a:t>
            </a:r>
            <a:r>
              <a:rPr sz="2400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violate</a:t>
            </a:r>
            <a:r>
              <a:rPr sz="2400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user’s</a:t>
            </a:r>
            <a:r>
              <a:rPr sz="2400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privacy</a:t>
            </a:r>
            <a:r>
              <a:rPr sz="24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it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gives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remote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server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access</a:t>
            </a:r>
            <a:r>
              <a:rPr sz="24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sz="24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FF"/>
                </a:solidFill>
                <a:latin typeface="Calibri"/>
                <a:cs typeface="Calibri"/>
              </a:rPr>
              <a:t>local</a:t>
            </a:r>
            <a:r>
              <a:rPr sz="24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can</a:t>
            </a:r>
            <a:r>
              <a:rPr sz="24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be</a:t>
            </a:r>
            <a:r>
              <a:rPr sz="24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50"/>
                </a:solidFill>
                <a:latin typeface="Calibri"/>
                <a:cs typeface="Calibri"/>
              </a:rPr>
              <a:t>disabled</a:t>
            </a:r>
            <a:r>
              <a:rPr sz="24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web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browser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2438400"/>
            <a:ext cx="1088673" cy="11356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00" y="3962400"/>
            <a:ext cx="1392936" cy="1219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dirty="0"/>
              <a:t>GDPR,</a:t>
            </a:r>
            <a:r>
              <a:rPr spc="-45" dirty="0"/>
              <a:t> </a:t>
            </a:r>
            <a:r>
              <a:rPr dirty="0"/>
              <a:t>Cookie</a:t>
            </a:r>
            <a:r>
              <a:rPr spc="-50" dirty="0"/>
              <a:t> </a:t>
            </a:r>
            <a:r>
              <a:rPr spc="-10" dirty="0"/>
              <a:t>Consent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627758"/>
            <a:ext cx="8461375" cy="43097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55600" marR="394335" indent="-342900">
              <a:lnSpc>
                <a:spcPts val="2600"/>
              </a:lnSpc>
              <a:spcBef>
                <a:spcPts val="215"/>
              </a:spcBef>
              <a:buFont typeface="Wingdings"/>
              <a:buChar char=""/>
              <a:tabLst>
                <a:tab pos="355600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EU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General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Protection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Regulation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(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GDPR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)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now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been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in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force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Clr>
                <a:srgbClr val="404040"/>
              </a:buClr>
              <a:buFont typeface="Wingdings"/>
              <a:buChar char=""/>
            </a:pP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625"/>
              </a:lnSpc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006FC0"/>
                </a:solidFill>
                <a:latin typeface="Calibri"/>
                <a:cs typeface="Calibri"/>
              </a:rPr>
              <a:t>GDPR</a:t>
            </a:r>
            <a:r>
              <a:rPr sz="22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over-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arching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piece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legislation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dealing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aspects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625"/>
              </a:lnSpc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processing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personal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Cookies</a:t>
            </a:r>
            <a:r>
              <a:rPr sz="22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mentioned</a:t>
            </a:r>
            <a:r>
              <a:rPr sz="22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once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2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404040"/>
                </a:solidFill>
                <a:latin typeface="Calibri"/>
                <a:cs typeface="Calibri"/>
              </a:rPr>
              <a:t>GDPR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2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b="1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Recital</a:t>
            </a:r>
            <a:r>
              <a:rPr sz="2200" b="1" u="sng" spc="-4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200" b="1" u="sng" spc="-2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Calibri"/>
                <a:cs typeface="Calibri"/>
                <a:hlinkClick r:id="rId2"/>
              </a:rPr>
              <a:t>30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endParaRPr sz="2200">
              <a:latin typeface="Calibri"/>
              <a:cs typeface="Calibri"/>
            </a:endParaRPr>
          </a:p>
          <a:p>
            <a:pPr marL="862965" marR="146685" lvl="1" indent="-393700">
              <a:lnSpc>
                <a:spcPct val="108400"/>
              </a:lnSpc>
              <a:spcBef>
                <a:spcPts val="375"/>
              </a:spcBef>
              <a:buSzPct val="90000"/>
              <a:buFont typeface="Wingdings"/>
              <a:buChar char=""/>
              <a:tabLst>
                <a:tab pos="862965" algn="l"/>
              </a:tabLst>
            </a:pP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“Natural</a:t>
            </a:r>
            <a:r>
              <a:rPr sz="2000" i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persons</a:t>
            </a:r>
            <a:r>
              <a:rPr sz="2000" i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2000" i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000" i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associated</a:t>
            </a:r>
            <a:r>
              <a:rPr sz="2000" i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000" i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online</a:t>
            </a:r>
            <a:r>
              <a:rPr sz="2000" i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identifiers…such</a:t>
            </a:r>
            <a:r>
              <a:rPr sz="2000" i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spc="-25" dirty="0">
                <a:solidFill>
                  <a:srgbClr val="404040"/>
                </a:solidFill>
                <a:latin typeface="Calibri"/>
                <a:cs typeface="Calibri"/>
              </a:rPr>
              <a:t>as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internet</a:t>
            </a:r>
            <a:r>
              <a:rPr sz="2000" i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protocol</a:t>
            </a:r>
            <a:r>
              <a:rPr sz="2000" i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addresses,</a:t>
            </a:r>
            <a:r>
              <a:rPr sz="2000" i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00FF"/>
                </a:solidFill>
                <a:latin typeface="Calibri"/>
                <a:cs typeface="Calibri"/>
              </a:rPr>
              <a:t>cookie</a:t>
            </a:r>
            <a:r>
              <a:rPr sz="2000" i="1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00FF"/>
                </a:solidFill>
                <a:latin typeface="Calibri"/>
                <a:cs typeface="Calibri"/>
              </a:rPr>
              <a:t>identifiers</a:t>
            </a:r>
            <a:r>
              <a:rPr sz="2000" i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i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other</a:t>
            </a:r>
            <a:r>
              <a:rPr sz="2000" i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identifiers….</a:t>
            </a:r>
            <a:r>
              <a:rPr sz="2000" i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spc="-20" dirty="0">
                <a:solidFill>
                  <a:srgbClr val="404040"/>
                </a:solidFill>
                <a:latin typeface="Calibri"/>
                <a:cs typeface="Calibri"/>
              </a:rPr>
              <a:t>This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2000" i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leave</a:t>
            </a:r>
            <a:r>
              <a:rPr sz="2000" i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traces</a:t>
            </a:r>
            <a:r>
              <a:rPr sz="2000" i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which,</a:t>
            </a:r>
            <a:r>
              <a:rPr sz="2000" i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i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particular</a:t>
            </a:r>
            <a:r>
              <a:rPr sz="2000" i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2000" i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combined</a:t>
            </a:r>
            <a:r>
              <a:rPr sz="2000" i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000" i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spc="-10" dirty="0">
                <a:solidFill>
                  <a:srgbClr val="404040"/>
                </a:solidFill>
                <a:latin typeface="Calibri"/>
                <a:cs typeface="Calibri"/>
              </a:rPr>
              <a:t>unique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identifiers</a:t>
            </a:r>
            <a:r>
              <a:rPr sz="2000" i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i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other</a:t>
            </a:r>
            <a:r>
              <a:rPr sz="2000" i="1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sz="2000" i="1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received</a:t>
            </a:r>
            <a:r>
              <a:rPr sz="2000" i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000" i="1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i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servers,</a:t>
            </a:r>
            <a:r>
              <a:rPr sz="2000" i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2000" i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000" i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000" i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spc="-2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create</a:t>
            </a:r>
            <a:r>
              <a:rPr sz="2000" i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profiles</a:t>
            </a:r>
            <a:r>
              <a:rPr sz="2000" i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i="1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i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natural</a:t>
            </a:r>
            <a:r>
              <a:rPr sz="2000" i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persons</a:t>
            </a:r>
            <a:r>
              <a:rPr sz="2000" i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i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404040"/>
                </a:solidFill>
                <a:latin typeface="Calibri"/>
                <a:cs typeface="Calibri"/>
              </a:rPr>
              <a:t>identify</a:t>
            </a:r>
            <a:r>
              <a:rPr sz="2000" i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i="1" spc="-10" dirty="0">
                <a:solidFill>
                  <a:srgbClr val="404040"/>
                </a:solidFill>
                <a:latin typeface="Calibri"/>
                <a:cs typeface="Calibri"/>
              </a:rPr>
              <a:t>them.”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4819DEA-E799-DB42-0D08-60E8BC8EF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074" y="2204402"/>
            <a:ext cx="7660888" cy="1058334"/>
          </a:xfrm>
        </p:spPr>
        <p:txBody>
          <a:bodyPr/>
          <a:lstStyle/>
          <a:p>
            <a:r>
              <a:rPr lang="en-US" dirty="0"/>
              <a:t>The anatomy of a node project</a:t>
            </a:r>
          </a:p>
        </p:txBody>
      </p:sp>
    </p:spTree>
    <p:extLst>
      <p:ext uri="{BB962C8B-B14F-4D97-AF65-F5344CB8AC3E}">
        <p14:creationId xmlns:p14="http://schemas.microsoft.com/office/powerpoint/2010/main" val="18536217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2E3B48-9E2A-878D-A5CB-CA35AB91E29C}"/>
              </a:ext>
            </a:extLst>
          </p:cNvPr>
          <p:cNvSpPr/>
          <p:nvPr/>
        </p:nvSpPr>
        <p:spPr>
          <a:xfrm>
            <a:off x="610615" y="1971675"/>
            <a:ext cx="2085975" cy="12573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| ── my-project</a:t>
            </a:r>
          </a:p>
          <a:p>
            <a:pPr lvl="1"/>
            <a:r>
              <a:rPr lang="en-US" dirty="0"/>
              <a:t>|── </a:t>
            </a:r>
            <a:r>
              <a:rPr lang="en-US" dirty="0" err="1"/>
              <a:t>package.json</a:t>
            </a:r>
            <a:endParaRPr lang="en-US" dirty="0"/>
          </a:p>
          <a:p>
            <a:pPr lvl="1"/>
            <a:r>
              <a:rPr lang="en-US" dirty="0"/>
              <a:t>|── package-</a:t>
            </a:r>
            <a:r>
              <a:rPr lang="en-US" dirty="0" err="1"/>
              <a:t>lock.json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|── </a:t>
            </a:r>
            <a:r>
              <a:rPr lang="en-US" dirty="0" err="1"/>
              <a:t>node_modules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|── </a:t>
            </a:r>
            <a:r>
              <a:rPr lang="en-US" dirty="0" err="1"/>
              <a:t>index.js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0EA2DB8-A793-1E50-3607-FE5C74184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842" y="1199528"/>
            <a:ext cx="6446521" cy="490700"/>
          </a:xfrm>
        </p:spPr>
        <p:txBody>
          <a:bodyPr/>
          <a:lstStyle/>
          <a:p>
            <a: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A Typical Node.js Project </a:t>
            </a:r>
            <a:endParaRPr 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FC09C-36A1-E606-8CD4-B6EBAFDCAA4E}"/>
              </a:ext>
            </a:extLst>
          </p:cNvPr>
          <p:cNvSpPr txBox="1"/>
          <p:nvPr/>
        </p:nvSpPr>
        <p:spPr>
          <a:xfrm>
            <a:off x="2781300" y="1836256"/>
            <a:ext cx="6048375" cy="390106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50" dirty="0"/>
              <a:t>A node project is a folder that contains a </a:t>
            </a:r>
            <a:r>
              <a:rPr lang="en-US" sz="2250" b="1" dirty="0" err="1"/>
              <a:t>package.json</a:t>
            </a:r>
            <a:r>
              <a:rPr lang="en-US" sz="2250" b="1" dirty="0"/>
              <a:t> </a:t>
            </a:r>
            <a:r>
              <a:rPr lang="en-US" sz="2250" dirty="0"/>
              <a:t>file.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50" dirty="0"/>
              <a:t>The </a:t>
            </a:r>
            <a:r>
              <a:rPr lang="en-US" sz="2250" b="1" dirty="0" err="1"/>
              <a:t>package.json</a:t>
            </a:r>
            <a:r>
              <a:rPr lang="en-US" sz="2250" b="1" dirty="0"/>
              <a:t> </a:t>
            </a:r>
            <a:r>
              <a:rPr lang="en-US" sz="2250" dirty="0"/>
              <a:t>file contains information about the project, including the packages it uses.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50" dirty="0"/>
              <a:t> A </a:t>
            </a:r>
            <a:r>
              <a:rPr lang="en-US" sz="2250" b="1" dirty="0" err="1"/>
              <a:t>package.lock</a:t>
            </a:r>
            <a:r>
              <a:rPr lang="en-US" sz="2250" b="1" dirty="0"/>
              <a:t> </a:t>
            </a:r>
            <a:r>
              <a:rPr lang="en-US" sz="2250" dirty="0"/>
              <a:t>file contains information about the packages that are installed in the project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250" dirty="0"/>
              <a:t>There should be at least one JavaScript that will be the entry point for your application: </a:t>
            </a:r>
            <a:r>
              <a:rPr lang="en-US" sz="2250" b="1" dirty="0"/>
              <a:t>e.g., </a:t>
            </a:r>
            <a:r>
              <a:rPr lang="en-US" sz="2250" b="1" dirty="0" err="1"/>
              <a:t>index.js</a:t>
            </a:r>
            <a:r>
              <a:rPr lang="en-US" sz="2250" b="1" dirty="0"/>
              <a:t>, </a:t>
            </a:r>
            <a:r>
              <a:rPr lang="en-US" sz="2250" b="1" dirty="0" err="1"/>
              <a:t>app.js</a:t>
            </a:r>
            <a:endParaRPr lang="en-US" sz="2250" b="1" dirty="0"/>
          </a:p>
        </p:txBody>
      </p:sp>
    </p:spTree>
    <p:extLst>
      <p:ext uri="{BB962C8B-B14F-4D97-AF65-F5344CB8AC3E}">
        <p14:creationId xmlns:p14="http://schemas.microsoft.com/office/powerpoint/2010/main" val="4261594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0EA2DB8-A793-1E50-3607-FE5C74184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1112605"/>
            <a:ext cx="6254626" cy="680281"/>
          </a:xfrm>
        </p:spPr>
        <p:txBody>
          <a:bodyPr/>
          <a:lstStyle/>
          <a:p>
            <a:pPr algn="ctr"/>
            <a: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The Node Package Manager</a:t>
            </a:r>
            <a:b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</a:br>
            <a:b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</a:br>
            <a:endParaRPr lang="en-US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E96196-5954-433B-FD4B-DAE3B9491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88" y="1870906"/>
            <a:ext cx="6847035" cy="38744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30B301-2EBC-D0C4-80B0-467BD09E83D7}"/>
              </a:ext>
            </a:extLst>
          </p:cNvPr>
          <p:cNvSpPr txBox="1"/>
          <p:nvPr/>
        </p:nvSpPr>
        <p:spPr>
          <a:xfrm>
            <a:off x="907988" y="1314246"/>
            <a:ext cx="6343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node package manager can be used to manage node projects </a:t>
            </a:r>
            <a:r>
              <a:rPr lang="en-US" dirty="0">
                <a:hlinkClick r:id="rId3"/>
              </a:rPr>
              <a:t>(</a:t>
            </a:r>
            <a:r>
              <a:rPr lang="en-GB" b="0" i="0" dirty="0">
                <a:solidFill>
                  <a:srgbClr val="343541"/>
                </a:solidFill>
                <a:effectLst/>
                <a:latin typeface="Söhne"/>
                <a:hlinkClick r:id="rId3"/>
              </a:rPr>
              <a:t>https://</a:t>
            </a:r>
            <a:r>
              <a:rPr lang="en-GB" b="0" i="0" dirty="0" err="1">
                <a:solidFill>
                  <a:srgbClr val="343541"/>
                </a:solidFill>
                <a:effectLst/>
                <a:latin typeface="Söhne"/>
                <a:hlinkClick r:id="rId3"/>
              </a:rPr>
              <a:t>www.npmjs.com</a:t>
            </a:r>
            <a:r>
              <a:rPr lang="en-GB" b="0" i="0" dirty="0">
                <a:solidFill>
                  <a:srgbClr val="343541"/>
                </a:solidFill>
                <a:effectLst/>
                <a:latin typeface="Söhne"/>
                <a:hlinkClick r:id="rId3"/>
              </a:rPr>
              <a:t>/</a:t>
            </a:r>
            <a:r>
              <a:rPr lang="en-US" dirty="0">
                <a:hlinkClick r:id="rId3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6097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0EA2DB8-A793-1E50-3607-FE5C74184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842" y="1199528"/>
            <a:ext cx="6446521" cy="490700"/>
          </a:xfrm>
        </p:spPr>
        <p:txBody>
          <a:bodyPr/>
          <a:lstStyle/>
          <a:p>
            <a: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The Node Package Manager(NPM)</a:t>
            </a:r>
            <a:endParaRPr lang="en-US" sz="1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75EB7-4DB2-F78D-D52F-1AA279B61921}"/>
              </a:ext>
            </a:extLst>
          </p:cNvPr>
          <p:cNvSpPr txBox="1"/>
          <p:nvPr/>
        </p:nvSpPr>
        <p:spPr>
          <a:xfrm>
            <a:off x="676275" y="1771651"/>
            <a:ext cx="6886575" cy="302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50" b="1" dirty="0" err="1"/>
              <a:t>npm</a:t>
            </a:r>
            <a:r>
              <a:rPr lang="en-US" sz="2250" b="1" dirty="0"/>
              <a:t> is: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100" dirty="0"/>
              <a:t>a package manager for JavaScript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100" dirty="0"/>
              <a:t>if you have Node.js installed, you have </a:t>
            </a:r>
            <a:r>
              <a:rPr lang="en-US" sz="2100" dirty="0" err="1"/>
              <a:t>npm</a:t>
            </a:r>
            <a:r>
              <a:rPr lang="en-US" sz="2100" dirty="0"/>
              <a:t> installed!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100" dirty="0"/>
              <a:t>the world's largest software registry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100" dirty="0"/>
              <a:t>it provides a command-line interface (CLI) for managing packages and other tasks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100" dirty="0"/>
              <a:t>it can be used to install, manage, and publish packages, manage dependencies, and run scripts</a:t>
            </a:r>
          </a:p>
        </p:txBody>
      </p:sp>
    </p:spTree>
    <p:extLst>
      <p:ext uri="{BB962C8B-B14F-4D97-AF65-F5344CB8AC3E}">
        <p14:creationId xmlns:p14="http://schemas.microsoft.com/office/powerpoint/2010/main" val="6752086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0EA2DB8-A793-1E50-3607-FE5C74184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1112605"/>
            <a:ext cx="6254626" cy="680281"/>
          </a:xfrm>
        </p:spPr>
        <p:txBody>
          <a:bodyPr/>
          <a:lstStyle/>
          <a:p>
            <a:pPr algn="ctr"/>
            <a: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Getting Started with NPM</a:t>
            </a:r>
            <a:b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</a:br>
            <a:b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</a:br>
            <a:endParaRPr lang="en-US" sz="1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9BFE6-2365-A96F-EBDE-BC2721BAB745}"/>
              </a:ext>
            </a:extLst>
          </p:cNvPr>
          <p:cNvSpPr txBox="1"/>
          <p:nvPr/>
        </p:nvSpPr>
        <p:spPr>
          <a:xfrm>
            <a:off x="314325" y="1666573"/>
            <a:ext cx="7286625" cy="1535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75" dirty="0"/>
              <a:t>- Ensure your have NodeJS installed </a:t>
            </a:r>
          </a:p>
          <a:p>
            <a:r>
              <a:rPr lang="en-US" sz="1875" dirty="0"/>
              <a:t>- In the directory of your project run the terminal command: </a:t>
            </a:r>
            <a:r>
              <a:rPr lang="en-US" sz="1875" b="1" dirty="0" err="1"/>
              <a:t>npm</a:t>
            </a:r>
            <a:r>
              <a:rPr lang="en-US" sz="1875" b="1" dirty="0"/>
              <a:t> </a:t>
            </a:r>
            <a:r>
              <a:rPr lang="en-US" sz="1875" b="1" dirty="0" err="1"/>
              <a:t>init</a:t>
            </a:r>
            <a:endParaRPr lang="en-US" sz="1875" b="1" dirty="0"/>
          </a:p>
          <a:p>
            <a:r>
              <a:rPr lang="en-US" sz="1875" b="1" dirty="0"/>
              <a:t>- You can keep pressing enter to accept the defaults.</a:t>
            </a:r>
            <a:endParaRPr lang="en-US" sz="1875" dirty="0"/>
          </a:p>
          <a:p>
            <a:endParaRPr lang="en-US" sz="187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75E53B-2C28-94F9-36A2-A06F33A49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0" y="2663802"/>
            <a:ext cx="8124616" cy="260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106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0EA2DB8-A793-1E50-3607-FE5C74184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1112605"/>
            <a:ext cx="6254626" cy="680281"/>
          </a:xfrm>
        </p:spPr>
        <p:txBody>
          <a:bodyPr/>
          <a:lstStyle/>
          <a:p>
            <a:pPr algn="ctr"/>
            <a: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You now have a </a:t>
            </a:r>
            <a:r>
              <a:rPr lang="en-US" sz="2100" b="1" dirty="0" err="1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package.json</a:t>
            </a:r>
            <a: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 file</a:t>
            </a:r>
            <a:endParaRPr lang="en-US" sz="1800" b="1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10DC993-3EB9-BB8D-8D26-CF9F1F49B048}"/>
              </a:ext>
            </a:extLst>
          </p:cNvPr>
          <p:cNvSpPr/>
          <p:nvPr/>
        </p:nvSpPr>
        <p:spPr>
          <a:xfrm>
            <a:off x="438150" y="1792885"/>
            <a:ext cx="4410075" cy="381734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{</a:t>
            </a:r>
          </a:p>
          <a:p>
            <a:r>
              <a:rPr lang="en-US" dirty="0"/>
              <a:t>  "name": "</a:t>
            </a:r>
            <a:r>
              <a:rPr lang="en-US" dirty="0" err="1"/>
              <a:t>my_first_website</a:t>
            </a:r>
            <a:r>
              <a:rPr lang="en-US" dirty="0"/>
              <a:t>",</a:t>
            </a:r>
          </a:p>
          <a:p>
            <a:r>
              <a:rPr lang="en-US" dirty="0"/>
              <a:t>  "version": "1.0.0",</a:t>
            </a:r>
          </a:p>
          <a:p>
            <a:r>
              <a:rPr lang="en-US" dirty="0"/>
              <a:t>  "main": "</a:t>
            </a:r>
            <a:r>
              <a:rPr lang="en-US" dirty="0" err="1"/>
              <a:t>index.js</a:t>
            </a:r>
            <a:r>
              <a:rPr lang="en-US" dirty="0"/>
              <a:t>",</a:t>
            </a:r>
          </a:p>
          <a:p>
            <a:r>
              <a:rPr lang="en-US" dirty="0"/>
              <a:t>  "scripts": {</a:t>
            </a:r>
          </a:p>
          <a:p>
            <a:r>
              <a:rPr lang="en-US" dirty="0"/>
              <a:t>    "test": "echo \"Error: no test specified\" &amp;&amp; exit 1"</a:t>
            </a:r>
          </a:p>
          <a:p>
            <a:r>
              <a:rPr lang="en-US" dirty="0"/>
              <a:t>  },</a:t>
            </a:r>
          </a:p>
          <a:p>
            <a:r>
              <a:rPr lang="en-US" dirty="0"/>
              <a:t>  "author": "",</a:t>
            </a:r>
          </a:p>
          <a:p>
            <a:r>
              <a:rPr lang="en-US" dirty="0"/>
              <a:t>  "license": "ISC",</a:t>
            </a:r>
          </a:p>
          <a:p>
            <a:r>
              <a:rPr lang="en-US" dirty="0"/>
              <a:t>  "dependencies": {</a:t>
            </a:r>
          </a:p>
          <a:p>
            <a:r>
              <a:rPr lang="en-US" dirty="0"/>
              <a:t> },</a:t>
            </a:r>
          </a:p>
          <a:p>
            <a:r>
              <a:rPr lang="en-US" dirty="0"/>
              <a:t>  "</a:t>
            </a:r>
            <a:r>
              <a:rPr lang="en-US" dirty="0" err="1"/>
              <a:t>devDependencies</a:t>
            </a:r>
            <a:r>
              <a:rPr lang="en-US" dirty="0"/>
              <a:t>": {},</a:t>
            </a:r>
          </a:p>
          <a:p>
            <a:r>
              <a:rPr lang="en-US" dirty="0"/>
              <a:t>  "description": ""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9EABF-8131-7032-AAA9-E2546353200B}"/>
              </a:ext>
            </a:extLst>
          </p:cNvPr>
          <p:cNvSpPr txBox="1"/>
          <p:nvPr/>
        </p:nvSpPr>
        <p:spPr>
          <a:xfrm>
            <a:off x="5181600" y="1943100"/>
            <a:ext cx="3524250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75" dirty="0"/>
              <a:t>The `</a:t>
            </a:r>
            <a:r>
              <a:rPr lang="en-US" sz="1875" dirty="0" err="1"/>
              <a:t>package.json</a:t>
            </a:r>
            <a:r>
              <a:rPr lang="en-US" sz="1875" dirty="0"/>
              <a:t>` file contains information about the project and is split into sections.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75" dirty="0"/>
              <a:t>For this module, there are only three sections we care about: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75" dirty="0"/>
              <a:t>The `</a:t>
            </a:r>
            <a:r>
              <a:rPr lang="en-US" sz="1875" dirty="0" err="1"/>
              <a:t>devDependencies</a:t>
            </a:r>
            <a:r>
              <a:rPr lang="en-US" sz="1875" dirty="0"/>
              <a:t>` field is a list of packages that the project depends on in development mode.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75" dirty="0"/>
              <a:t> The `dependencies` field is a list of packages that the project depends 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514268-E1DA-D13C-1410-0A9D411559E9}"/>
              </a:ext>
            </a:extLst>
          </p:cNvPr>
          <p:cNvSpPr/>
          <p:nvPr/>
        </p:nvSpPr>
        <p:spPr>
          <a:xfrm>
            <a:off x="729327" y="3094751"/>
            <a:ext cx="3827721" cy="606804"/>
          </a:xfrm>
          <a:prstGeom prst="rect">
            <a:avLst/>
          </a:prstGeom>
          <a:solidFill>
            <a:schemeClr val="accent6">
              <a:alpha val="4068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B59E6A-E797-8C52-0454-745597D7FA22}"/>
              </a:ext>
            </a:extLst>
          </p:cNvPr>
          <p:cNvSpPr/>
          <p:nvPr/>
        </p:nvSpPr>
        <p:spPr>
          <a:xfrm>
            <a:off x="629314" y="4093369"/>
            <a:ext cx="3927734" cy="451149"/>
          </a:xfrm>
          <a:prstGeom prst="rect">
            <a:avLst/>
          </a:prstGeom>
          <a:solidFill>
            <a:schemeClr val="accent6">
              <a:alpha val="4068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4E4FE6-DDD9-27A4-995F-00E4A95B80E2}"/>
              </a:ext>
            </a:extLst>
          </p:cNvPr>
          <p:cNvSpPr/>
          <p:nvPr/>
        </p:nvSpPr>
        <p:spPr>
          <a:xfrm>
            <a:off x="629314" y="4544518"/>
            <a:ext cx="3927734" cy="245367"/>
          </a:xfrm>
          <a:prstGeom prst="rect">
            <a:avLst/>
          </a:prstGeom>
          <a:solidFill>
            <a:schemeClr val="accent6">
              <a:alpha val="4068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1628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0EA2DB8-A793-1E50-3607-FE5C74184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1112605"/>
            <a:ext cx="6254626" cy="680281"/>
          </a:xfrm>
        </p:spPr>
        <p:txBody>
          <a:bodyPr/>
          <a:lstStyle/>
          <a:p>
            <a:pPr algn="ctr"/>
            <a: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Getting Started with NPM</a:t>
            </a:r>
            <a:b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</a:br>
            <a:b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</a:br>
            <a:endParaRPr lang="en-US" sz="1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00CE3-1767-DDB8-977B-07FC849AC154}"/>
              </a:ext>
            </a:extLst>
          </p:cNvPr>
          <p:cNvSpPr txBox="1"/>
          <p:nvPr/>
        </p:nvSpPr>
        <p:spPr>
          <a:xfrm>
            <a:off x="438150" y="1538583"/>
            <a:ext cx="821410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After running “</a:t>
            </a:r>
            <a:r>
              <a:rPr lang="en-US" sz="2100" dirty="0" err="1"/>
              <a:t>npm</a:t>
            </a:r>
            <a:r>
              <a:rPr lang="en-US" sz="2100" dirty="0"/>
              <a:t> </a:t>
            </a:r>
            <a:r>
              <a:rPr lang="en-US" sz="2100" dirty="0" err="1"/>
              <a:t>init</a:t>
            </a:r>
            <a:r>
              <a:rPr lang="en-US" sz="2100" dirty="0"/>
              <a:t>”; we can now install some packages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You can find packages by searching the </a:t>
            </a:r>
            <a:r>
              <a:rPr lang="en-US" sz="2100" dirty="0">
                <a:hlinkClick r:id="rId2"/>
              </a:rPr>
              <a:t>https://www.npmjs.com/</a:t>
            </a:r>
            <a:endParaRPr lang="en-US" sz="2100" dirty="0"/>
          </a:p>
          <a:p>
            <a:r>
              <a:rPr lang="en-US" sz="2100" dirty="0"/>
              <a:t>Repository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Packages are open source and free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There are over 1.2million packages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/>
              <a:t>Many are downloaded millions of times a week</a:t>
            </a:r>
          </a:p>
        </p:txBody>
      </p:sp>
    </p:spTree>
    <p:extLst>
      <p:ext uri="{BB962C8B-B14F-4D97-AF65-F5344CB8AC3E}">
        <p14:creationId xmlns:p14="http://schemas.microsoft.com/office/powerpoint/2010/main" val="18176576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0EA2DB8-A793-1E50-3607-FE5C74184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1112605"/>
            <a:ext cx="6254626" cy="680281"/>
          </a:xfrm>
        </p:spPr>
        <p:txBody>
          <a:bodyPr/>
          <a:lstStyle/>
          <a:p>
            <a:pPr algn="ctr"/>
            <a: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Let’s Install Colors (</a:t>
            </a:r>
            <a:r>
              <a:rPr lang="en-US" sz="2100" b="1" dirty="0" err="1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i</a:t>
            </a:r>
            <a: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)</a:t>
            </a:r>
            <a:endParaRPr lang="en-US" sz="1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3B3CB5-EDDC-B3B9-9779-C91BEB170FC2}"/>
              </a:ext>
            </a:extLst>
          </p:cNvPr>
          <p:cNvSpPr txBox="1"/>
          <p:nvPr/>
        </p:nvSpPr>
        <p:spPr>
          <a:xfrm>
            <a:off x="1300182" y="1613991"/>
            <a:ext cx="6109365" cy="380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75" dirty="0"/>
              <a:t>This package lets us print different colors to the console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E4EFFE-B563-97B7-169D-89E372DBF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63" y="2225516"/>
            <a:ext cx="5829300" cy="3134163"/>
          </a:xfrm>
          <a:prstGeom prst="rect">
            <a:avLst/>
          </a:prstGeom>
        </p:spPr>
      </p:pic>
      <p:sp>
        <p:nvSpPr>
          <p:cNvPr id="12" name="Left Arrow 11">
            <a:extLst>
              <a:ext uri="{FF2B5EF4-FFF2-40B4-BE49-F238E27FC236}">
                <a16:creationId xmlns:a16="http://schemas.microsoft.com/office/drawing/2014/main" id="{DCC65710-94C5-DC74-2E0F-2AEACB3EFDC4}"/>
              </a:ext>
            </a:extLst>
          </p:cNvPr>
          <p:cNvSpPr/>
          <p:nvPr/>
        </p:nvSpPr>
        <p:spPr>
          <a:xfrm>
            <a:off x="4972051" y="4067175"/>
            <a:ext cx="1266825" cy="35779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C9CA94-FFD8-A177-18EA-2ABB9266F556}"/>
              </a:ext>
            </a:extLst>
          </p:cNvPr>
          <p:cNvSpPr txBox="1"/>
          <p:nvPr/>
        </p:nvSpPr>
        <p:spPr>
          <a:xfrm>
            <a:off x="6238876" y="410757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source code</a:t>
            </a:r>
          </a:p>
        </p:txBody>
      </p:sp>
      <p:sp>
        <p:nvSpPr>
          <p:cNvPr id="14" name="Left Arrow 13">
            <a:extLst>
              <a:ext uri="{FF2B5EF4-FFF2-40B4-BE49-F238E27FC236}">
                <a16:creationId xmlns:a16="http://schemas.microsoft.com/office/drawing/2014/main" id="{29F7A5D0-F9AF-B7C5-A7F4-1F2A97683A7B}"/>
              </a:ext>
            </a:extLst>
          </p:cNvPr>
          <p:cNvSpPr/>
          <p:nvPr/>
        </p:nvSpPr>
        <p:spPr>
          <a:xfrm>
            <a:off x="5468907" y="4713427"/>
            <a:ext cx="1266825" cy="35779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74CEC-C31F-0CE9-C777-2F4F480D96CA}"/>
              </a:ext>
            </a:extLst>
          </p:cNvPr>
          <p:cNvSpPr txBox="1"/>
          <p:nvPr/>
        </p:nvSpPr>
        <p:spPr>
          <a:xfrm>
            <a:off x="6735732" y="4748307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Downloads</a:t>
            </a:r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D0D3E1F4-CB9A-E1DB-B99E-E9CE0412A90C}"/>
              </a:ext>
            </a:extLst>
          </p:cNvPr>
          <p:cNvSpPr/>
          <p:nvPr/>
        </p:nvSpPr>
        <p:spPr>
          <a:xfrm>
            <a:off x="4972051" y="4390516"/>
            <a:ext cx="1266825" cy="35779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295646-B947-D4B6-8A18-6A4DB8B0F848}"/>
              </a:ext>
            </a:extLst>
          </p:cNvPr>
          <p:cNvSpPr txBox="1"/>
          <p:nvPr/>
        </p:nvSpPr>
        <p:spPr>
          <a:xfrm>
            <a:off x="6238876" y="4430912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Documentation</a:t>
            </a:r>
          </a:p>
        </p:txBody>
      </p:sp>
      <p:sp>
        <p:nvSpPr>
          <p:cNvPr id="19" name="Left Arrow 18">
            <a:extLst>
              <a:ext uri="{FF2B5EF4-FFF2-40B4-BE49-F238E27FC236}">
                <a16:creationId xmlns:a16="http://schemas.microsoft.com/office/drawing/2014/main" id="{B22EFB9C-1BA5-EDD2-E76B-4B0B23779D80}"/>
              </a:ext>
            </a:extLst>
          </p:cNvPr>
          <p:cNvSpPr/>
          <p:nvPr/>
        </p:nvSpPr>
        <p:spPr>
          <a:xfrm>
            <a:off x="1300181" y="2843652"/>
            <a:ext cx="5138719" cy="35779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D4AE65-C67F-358F-DBF5-D58C78519734}"/>
              </a:ext>
            </a:extLst>
          </p:cNvPr>
          <p:cNvSpPr txBox="1"/>
          <p:nvPr/>
        </p:nvSpPr>
        <p:spPr>
          <a:xfrm>
            <a:off x="6438900" y="2872227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of the package</a:t>
            </a:r>
          </a:p>
        </p:txBody>
      </p:sp>
    </p:spTree>
    <p:extLst>
      <p:ext uri="{BB962C8B-B14F-4D97-AF65-F5344CB8AC3E}">
        <p14:creationId xmlns:p14="http://schemas.microsoft.com/office/powerpoint/2010/main" val="32647101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FC298FD-E5E9-F740-193A-AA6DDCD89391}"/>
              </a:ext>
            </a:extLst>
          </p:cNvPr>
          <p:cNvSpPr/>
          <p:nvPr/>
        </p:nvSpPr>
        <p:spPr>
          <a:xfrm>
            <a:off x="266700" y="2672434"/>
            <a:ext cx="4410075" cy="58836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&gt;  </a:t>
            </a:r>
            <a:r>
              <a:rPr lang="en-US" sz="2100" dirty="0" err="1"/>
              <a:t>npm</a:t>
            </a:r>
            <a:r>
              <a:rPr lang="en-US" sz="2100" dirty="0"/>
              <a:t> install colors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28B341-54E9-F28F-3CF7-60150C19A7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Let’s Install </a:t>
            </a:r>
            <a:r>
              <a:rPr lang="en-US" sz="2100" b="1" dirty="0" err="1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Colors.js</a:t>
            </a:r>
            <a:r>
              <a:rPr lang="en-US" sz="21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 (ii)</a:t>
            </a:r>
            <a:endParaRPr lang="en-US" sz="1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C45F8D-CACC-1F2F-173C-73116EF1E88C}"/>
              </a:ext>
            </a:extLst>
          </p:cNvPr>
          <p:cNvSpPr txBox="1"/>
          <p:nvPr/>
        </p:nvSpPr>
        <p:spPr>
          <a:xfrm>
            <a:off x="266701" y="1800225"/>
            <a:ext cx="7927491" cy="66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75" dirty="0"/>
              <a:t>Dependencies are installed from command line.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875" dirty="0"/>
              <a:t> Ensure your terminal window is pointed to the root of your project.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D575C8-2B91-2D59-8548-EE9A354178B9}"/>
              </a:ext>
            </a:extLst>
          </p:cNvPr>
          <p:cNvSpPr txBox="1"/>
          <p:nvPr/>
        </p:nvSpPr>
        <p:spPr>
          <a:xfrm>
            <a:off x="266700" y="3486677"/>
            <a:ext cx="5448928" cy="18582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75" dirty="0">
                <a:solidFill>
                  <a:srgbClr val="0F0F0F"/>
                </a:solidFill>
                <a:latin typeface="Söhne"/>
              </a:rPr>
              <a:t>Packages are stored in the "</a:t>
            </a:r>
            <a:r>
              <a:rPr lang="en-GB" sz="1875" dirty="0" err="1">
                <a:solidFill>
                  <a:srgbClr val="0F0F0F"/>
                </a:solidFill>
                <a:latin typeface="Söhne"/>
              </a:rPr>
              <a:t>node_modules</a:t>
            </a:r>
            <a:r>
              <a:rPr lang="en-GB" sz="1875" dirty="0">
                <a:solidFill>
                  <a:srgbClr val="0F0F0F"/>
                </a:solidFill>
                <a:latin typeface="Söhne"/>
              </a:rPr>
              <a:t>" folder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75" dirty="0">
                <a:latin typeface="Söhne"/>
              </a:rPr>
              <a:t>Dependencies listed in the ”</a:t>
            </a:r>
            <a:r>
              <a:rPr lang="en-GB" sz="1875" dirty="0" err="1">
                <a:latin typeface="Söhne"/>
              </a:rPr>
              <a:t>package.json</a:t>
            </a:r>
            <a:r>
              <a:rPr lang="en-GB" sz="1875" dirty="0">
                <a:latin typeface="Söhne"/>
              </a:rPr>
              <a:t>” file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75" dirty="0">
                <a:solidFill>
                  <a:srgbClr val="0F0F0F"/>
                </a:solidFill>
                <a:latin typeface="Söhne"/>
              </a:rPr>
              <a:t>Packages are stored in the "</a:t>
            </a:r>
            <a:r>
              <a:rPr lang="en-GB" sz="1875" dirty="0" err="1">
                <a:solidFill>
                  <a:srgbClr val="0F0F0F"/>
                </a:solidFill>
                <a:latin typeface="Söhne"/>
              </a:rPr>
              <a:t>node_modules</a:t>
            </a:r>
            <a:r>
              <a:rPr lang="en-GB" sz="1875" dirty="0">
                <a:solidFill>
                  <a:srgbClr val="0F0F0F"/>
                </a:solidFill>
                <a:latin typeface="Söhne"/>
              </a:rPr>
              <a:t>" folder</a:t>
            </a:r>
          </a:p>
          <a:p>
            <a:pPr algn="l"/>
            <a:endParaRPr lang="en-GB" sz="1875" dirty="0">
              <a:latin typeface="Söhne"/>
            </a:endParaRPr>
          </a:p>
          <a:p>
            <a:br>
              <a:rPr lang="en-GB" sz="2100" dirty="0"/>
            </a:br>
            <a:endParaRPr lang="en-US" sz="1875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7E30EE-12A7-42F5-4119-CF8C60EA9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275" y="3155010"/>
            <a:ext cx="1895475" cy="1878244"/>
          </a:xfrm>
          <a:prstGeom prst="rect">
            <a:avLst/>
          </a:prstGeom>
        </p:spPr>
      </p:pic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1817652C-CEDF-D09B-4742-2D52EC6491C7}"/>
              </a:ext>
            </a:extLst>
          </p:cNvPr>
          <p:cNvCxnSpPr>
            <a:cxnSpLocks/>
          </p:cNvCxnSpPr>
          <p:nvPr/>
        </p:nvCxnSpPr>
        <p:spPr>
          <a:xfrm>
            <a:off x="5122069" y="3975497"/>
            <a:ext cx="884206" cy="435948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9347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FC298FD-E5E9-F740-193A-AA6DDCD89391}"/>
              </a:ext>
            </a:extLst>
          </p:cNvPr>
          <p:cNvSpPr/>
          <p:nvPr/>
        </p:nvSpPr>
        <p:spPr>
          <a:xfrm>
            <a:off x="171450" y="1836853"/>
            <a:ext cx="7896225" cy="94267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100" dirty="0"/>
              <a:t>const colors = require('colors’);  // save the package to a const</a:t>
            </a:r>
          </a:p>
          <a:p>
            <a:r>
              <a:rPr lang="en-US" sz="2100" dirty="0" err="1"/>
              <a:t>console.log</a:t>
            </a:r>
            <a:r>
              <a:rPr lang="en-US" sz="2100" dirty="0"/>
              <a:t>('Hello </a:t>
            </a:r>
            <a:r>
              <a:rPr lang="en-US" sz="2100" dirty="0" err="1"/>
              <a:t>World!'.rainbow</a:t>
            </a:r>
            <a:r>
              <a:rPr lang="en-US" sz="2100" dirty="0"/>
              <a:t>);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28B341-54E9-F28F-3CF7-60150C19A7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1800" b="1" dirty="0"/>
              <a:t>Using Packages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1CBB40E-AB12-461F-7A39-3114C5EFF1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3151649"/>
            <a:ext cx="7896225" cy="121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343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328B341-54E9-F28F-3CF7-60150C19A7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1800" b="1" dirty="0"/>
              <a:t>Some TIPS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8C2E374-2E84-7633-BE19-F0A4E10EBA37}"/>
              </a:ext>
            </a:extLst>
          </p:cNvPr>
          <p:cNvSpPr txBox="1"/>
          <p:nvPr/>
        </p:nvSpPr>
        <p:spPr>
          <a:xfrm>
            <a:off x="230186" y="1639570"/>
            <a:ext cx="78361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F0F0F"/>
                </a:solidFill>
                <a:latin typeface="Söhne"/>
              </a:rPr>
              <a:t>Since packages have dependencies the ”</a:t>
            </a:r>
            <a:r>
              <a:rPr lang="en-GB" b="1" dirty="0" err="1">
                <a:solidFill>
                  <a:srgbClr val="0F0F0F"/>
                </a:solidFill>
                <a:latin typeface="Söhne"/>
              </a:rPr>
              <a:t>node_modules</a:t>
            </a:r>
            <a:r>
              <a:rPr lang="en-GB" dirty="0">
                <a:solidFill>
                  <a:srgbClr val="0F0F0F"/>
                </a:solidFill>
                <a:latin typeface="Söhne"/>
              </a:rPr>
              <a:t>” folder gets very heavy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F0F0F"/>
                </a:solidFill>
                <a:latin typeface="Söhne"/>
              </a:rPr>
              <a:t>Use </a:t>
            </a:r>
            <a:r>
              <a:rPr lang="en-GB" dirty="0"/>
              <a:t>.</a:t>
            </a:r>
            <a:r>
              <a:rPr lang="en-GB" dirty="0" err="1"/>
              <a:t>gitignore</a:t>
            </a:r>
            <a:r>
              <a:rPr lang="en-GB" dirty="0">
                <a:solidFill>
                  <a:srgbClr val="0F0F0F"/>
                </a:solidFill>
                <a:latin typeface="Söhne"/>
              </a:rPr>
              <a:t> to exclude "</a:t>
            </a:r>
            <a:r>
              <a:rPr lang="en-GB" b="1" dirty="0" err="1">
                <a:solidFill>
                  <a:srgbClr val="0F0F0F"/>
                </a:solidFill>
                <a:latin typeface="Söhne"/>
              </a:rPr>
              <a:t>node_modules</a:t>
            </a:r>
            <a:r>
              <a:rPr lang="en-GB" dirty="0">
                <a:solidFill>
                  <a:srgbClr val="0F0F0F"/>
                </a:solidFill>
                <a:latin typeface="Söhne"/>
              </a:rPr>
              <a:t>" from version control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F0F0F"/>
                </a:solidFill>
                <a:latin typeface="Söhne"/>
              </a:rPr>
              <a:t>Delete the ”</a:t>
            </a:r>
            <a:r>
              <a:rPr lang="en-GB" b="1" dirty="0" err="1">
                <a:solidFill>
                  <a:srgbClr val="0F0F0F"/>
                </a:solidFill>
                <a:latin typeface="Söhne"/>
              </a:rPr>
              <a:t>node_modules</a:t>
            </a:r>
            <a:r>
              <a:rPr lang="en-GB" dirty="0">
                <a:solidFill>
                  <a:srgbClr val="0F0F0F"/>
                </a:solidFill>
                <a:latin typeface="Söhne"/>
              </a:rPr>
              <a:t>” folder before submitting your assessment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F0F0F"/>
                </a:solidFill>
                <a:latin typeface="Söhne"/>
              </a:rPr>
              <a:t>We can install the </a:t>
            </a:r>
            <a:r>
              <a:rPr lang="en-GB" dirty="0" err="1">
                <a:solidFill>
                  <a:srgbClr val="0F0F0F"/>
                </a:solidFill>
                <a:latin typeface="Söhne"/>
              </a:rPr>
              <a:t>dependancies</a:t>
            </a:r>
            <a:r>
              <a:rPr lang="en-GB" dirty="0">
                <a:solidFill>
                  <a:srgbClr val="0F0F0F"/>
                </a:solidFill>
                <a:latin typeface="Söhne"/>
              </a:rPr>
              <a:t> by running “</a:t>
            </a:r>
            <a:r>
              <a:rPr lang="en-GB" b="1" dirty="0" err="1">
                <a:solidFill>
                  <a:srgbClr val="0F0F0F"/>
                </a:solidFill>
                <a:latin typeface="Söhne"/>
              </a:rPr>
              <a:t>npm</a:t>
            </a:r>
            <a:r>
              <a:rPr lang="en-GB" b="1" dirty="0">
                <a:solidFill>
                  <a:srgbClr val="0F0F0F"/>
                </a:solidFill>
                <a:latin typeface="Söhne"/>
              </a:rPr>
              <a:t> install</a:t>
            </a:r>
            <a:r>
              <a:rPr lang="en-GB" dirty="0">
                <a:solidFill>
                  <a:srgbClr val="0F0F0F"/>
                </a:solidFill>
                <a:latin typeface="Söhne"/>
              </a:rPr>
              <a:t>”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 descr="The node_modules problem - DEV Community">
            <a:extLst>
              <a:ext uri="{FF2B5EF4-FFF2-40B4-BE49-F238E27FC236}">
                <a16:creationId xmlns:a16="http://schemas.microsoft.com/office/drawing/2014/main" id="{ED2EABAC-7DD4-60A0-EA41-A473922A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92" y="3023112"/>
            <a:ext cx="6124829" cy="2410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977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4819DEA-E799-DB42-0D08-60E8BC8EF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7895" y="2370666"/>
            <a:ext cx="7095520" cy="1058334"/>
          </a:xfrm>
        </p:spPr>
        <p:txBody>
          <a:bodyPr/>
          <a:lstStyle/>
          <a:p>
            <a:r>
              <a:rPr lang="en-US" dirty="0"/>
              <a:t>DEMO (see Lecture TAB)</a:t>
            </a:r>
          </a:p>
        </p:txBody>
      </p:sp>
    </p:spTree>
    <p:extLst>
      <p:ext uri="{BB962C8B-B14F-4D97-AF65-F5344CB8AC3E}">
        <p14:creationId xmlns:p14="http://schemas.microsoft.com/office/powerpoint/2010/main" val="5526591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4819DEA-E799-DB42-0D08-60E8BC8EF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7895" y="2370666"/>
            <a:ext cx="7095520" cy="1058334"/>
          </a:xfrm>
        </p:spPr>
        <p:txBody>
          <a:bodyPr/>
          <a:lstStyle/>
          <a:p>
            <a:r>
              <a:rPr lang="en-US" dirty="0"/>
              <a:t>Web Development Frameworks</a:t>
            </a:r>
          </a:p>
        </p:txBody>
      </p:sp>
    </p:spTree>
    <p:extLst>
      <p:ext uri="{BB962C8B-B14F-4D97-AF65-F5344CB8AC3E}">
        <p14:creationId xmlns:p14="http://schemas.microsoft.com/office/powerpoint/2010/main" val="14215373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328B341-54E9-F28F-3CF7-60150C19A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240" y="1126194"/>
            <a:ext cx="6446521" cy="412933"/>
          </a:xfrm>
        </p:spPr>
        <p:txBody>
          <a:bodyPr/>
          <a:lstStyle/>
          <a:p>
            <a:pPr algn="ctr"/>
            <a:r>
              <a:rPr lang="en-US" sz="1800" b="1" dirty="0"/>
              <a:t>Front end vs back-End Development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5175F5-3B7D-FDE0-86D1-E9B289C6DCFA}"/>
              </a:ext>
            </a:extLst>
          </p:cNvPr>
          <p:cNvSpPr/>
          <p:nvPr/>
        </p:nvSpPr>
        <p:spPr>
          <a:xfrm>
            <a:off x="1526905" y="1702505"/>
            <a:ext cx="5004197" cy="11797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Front-End: </a:t>
            </a:r>
          </a:p>
        </p:txBody>
      </p: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7" name="Picture 16" descr="A circular logo with a blue circle in the middle&#10;&#10;Description automatically generated">
            <a:extLst>
              <a:ext uri="{FF2B5EF4-FFF2-40B4-BE49-F238E27FC236}">
                <a16:creationId xmlns:a16="http://schemas.microsoft.com/office/drawing/2014/main" id="{D4266139-7889-CD94-82E4-6450D96AD5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535" y="1844647"/>
            <a:ext cx="895487" cy="895487"/>
          </a:xfrm>
          <a:prstGeom prst="rect">
            <a:avLst/>
          </a:prstGeom>
        </p:spPr>
      </p:pic>
      <p:sp>
        <p:nvSpPr>
          <p:cNvPr id="18" name="Down Arrow 17">
            <a:extLst>
              <a:ext uri="{FF2B5EF4-FFF2-40B4-BE49-F238E27FC236}">
                <a16:creationId xmlns:a16="http://schemas.microsoft.com/office/drawing/2014/main" id="{7ADFA56A-807D-420D-8188-398529E7A66B}"/>
              </a:ext>
            </a:extLst>
          </p:cNvPr>
          <p:cNvSpPr/>
          <p:nvPr/>
        </p:nvSpPr>
        <p:spPr>
          <a:xfrm flipH="1">
            <a:off x="3282031" y="3045656"/>
            <a:ext cx="337991" cy="118870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7B1AA2D6-F31C-F864-94BC-10F0C57B4DAA}"/>
              </a:ext>
            </a:extLst>
          </p:cNvPr>
          <p:cNvSpPr/>
          <p:nvPr/>
        </p:nvSpPr>
        <p:spPr>
          <a:xfrm rot="10800000" flipH="1">
            <a:off x="3691012" y="3045656"/>
            <a:ext cx="337991" cy="1188704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6291C85-0AB2-C6CC-F259-CAB224A073A1}"/>
              </a:ext>
            </a:extLst>
          </p:cNvPr>
          <p:cNvSpPr/>
          <p:nvPr/>
        </p:nvSpPr>
        <p:spPr>
          <a:xfrm>
            <a:off x="1357908" y="4345567"/>
            <a:ext cx="5004197" cy="11797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Back-end: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344BF9-DD82-56B5-B65A-0BEE5700FB5C}"/>
              </a:ext>
            </a:extLst>
          </p:cNvPr>
          <p:cNvSpPr txBox="1"/>
          <p:nvPr/>
        </p:nvSpPr>
        <p:spPr>
          <a:xfrm>
            <a:off x="4286251" y="3546045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 Requests</a:t>
            </a:r>
          </a:p>
        </p:txBody>
      </p:sp>
      <p:pic>
        <p:nvPicPr>
          <p:cNvPr id="1034" name="Picture 10" descr="Html Js Css Icon">
            <a:extLst>
              <a:ext uri="{FF2B5EF4-FFF2-40B4-BE49-F238E27FC236}">
                <a16:creationId xmlns:a16="http://schemas.microsoft.com/office/drawing/2014/main" id="{5932F3D9-12BA-D34F-49BB-7D5C9AEFF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040" y="1823027"/>
            <a:ext cx="895487" cy="89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EDDB97C-695F-43A8-B82C-ED5BAC49A0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049" y="4554050"/>
            <a:ext cx="789692" cy="789692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35A4ABB-6469-E6A0-1D61-7408EF3A5F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279" y="4381244"/>
            <a:ext cx="1135306" cy="113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409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328B341-54E9-F28F-3CF7-60150C19A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240" y="1126194"/>
            <a:ext cx="6446521" cy="412933"/>
          </a:xfrm>
        </p:spPr>
        <p:txBody>
          <a:bodyPr/>
          <a:lstStyle/>
          <a:p>
            <a:pPr algn="ctr"/>
            <a:r>
              <a:rPr lang="en-US" sz="1800" b="1" dirty="0"/>
              <a:t>WEB FRAMEWORKS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8E458-443E-16BD-A51B-9547ED9E4BF7}"/>
              </a:ext>
            </a:extLst>
          </p:cNvPr>
          <p:cNvSpPr txBox="1"/>
          <p:nvPr/>
        </p:nvSpPr>
        <p:spPr>
          <a:xfrm>
            <a:off x="653654" y="2078832"/>
            <a:ext cx="7470635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Web Frameworks Simplify the process of web development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They abstract low-level details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Common web frameworks include: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100" dirty="0" err="1"/>
              <a:t>Express.js</a:t>
            </a:r>
            <a:r>
              <a:rPr lang="en-GB" sz="2100" dirty="0"/>
              <a:t> (Node.js)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100" dirty="0"/>
              <a:t>Django (Python)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100" dirty="0"/>
              <a:t>Ruby on Rails (Ruby)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100" dirty="0"/>
              <a:t>Flask (Python)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100" dirty="0"/>
              <a:t> Laravel (PHP)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100" dirty="0"/>
              <a:t>Spring Boot (Java)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A3A67D00-8D20-5D03-10EF-EC93E45EAD9A}"/>
              </a:ext>
            </a:extLst>
          </p:cNvPr>
          <p:cNvSpPr/>
          <p:nvPr/>
        </p:nvSpPr>
        <p:spPr>
          <a:xfrm rot="10800000" flipV="1">
            <a:off x="3400782" y="2960370"/>
            <a:ext cx="2571036" cy="4686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what we will use</a:t>
            </a:r>
          </a:p>
        </p:txBody>
      </p:sp>
    </p:spTree>
    <p:extLst>
      <p:ext uri="{BB962C8B-B14F-4D97-AF65-F5344CB8AC3E}">
        <p14:creationId xmlns:p14="http://schemas.microsoft.com/office/powerpoint/2010/main" val="16147353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" name="Picture 9" descr="A white background with words&#10;&#10;Description automatically generated">
            <a:extLst>
              <a:ext uri="{FF2B5EF4-FFF2-40B4-BE49-F238E27FC236}">
                <a16:creationId xmlns:a16="http://schemas.microsoft.com/office/drawing/2014/main" id="{6F82F13F-F976-2850-B578-FED6692DF54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27"/>
          <a:stretch/>
        </p:blipFill>
        <p:spPr>
          <a:xfrm>
            <a:off x="793757" y="1192352"/>
            <a:ext cx="5840780" cy="14907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D40789-F483-C714-B8BF-45D2AB6283F3}"/>
              </a:ext>
            </a:extLst>
          </p:cNvPr>
          <p:cNvSpPr txBox="1"/>
          <p:nvPr/>
        </p:nvSpPr>
        <p:spPr>
          <a:xfrm>
            <a:off x="369870" y="2440772"/>
            <a:ext cx="8404261" cy="2677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endParaRPr lang="en-GB" sz="2100" dirty="0"/>
          </a:p>
          <a:p>
            <a:pPr marL="342900" indent="-342900">
              <a:buFont typeface="Wingdings" pitchFamily="2" charset="2"/>
              <a:buChar char="ü"/>
            </a:pPr>
            <a:r>
              <a:rPr lang="en-GB" sz="2100" dirty="0"/>
              <a:t>A minimal and flexible Node.js web application framework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100" dirty="0"/>
              <a:t>  Express includes a routing system that enables developers to define routes for different HTTP methods and URLs.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100" dirty="0"/>
              <a:t> Makes it easy to create a structured and organized API or web application with specific endpoints.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GB" sz="2100" dirty="0"/>
              <a:t>Express can be integrated with various template engines, such as </a:t>
            </a:r>
            <a:r>
              <a:rPr lang="en-GB" sz="2100" b="1" dirty="0"/>
              <a:t>EJS </a:t>
            </a:r>
            <a:r>
              <a:rPr lang="en-GB" sz="2100" dirty="0"/>
              <a:t>or Pug.</a:t>
            </a:r>
          </a:p>
        </p:txBody>
      </p:sp>
    </p:spTree>
    <p:extLst>
      <p:ext uri="{BB962C8B-B14F-4D97-AF65-F5344CB8AC3E}">
        <p14:creationId xmlns:p14="http://schemas.microsoft.com/office/powerpoint/2010/main" val="17384843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99C326-A59B-BF3D-D173-4EE333A6303A}"/>
              </a:ext>
            </a:extLst>
          </p:cNvPr>
          <p:cNvSpPr/>
          <p:nvPr/>
        </p:nvSpPr>
        <p:spPr>
          <a:xfrm>
            <a:off x="137525" y="1721917"/>
            <a:ext cx="7753028" cy="41293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/>
              <a:t>&gt;  </a:t>
            </a:r>
            <a:r>
              <a:rPr lang="en-US" sz="1500" dirty="0" err="1"/>
              <a:t>npm</a:t>
            </a:r>
            <a:r>
              <a:rPr lang="en-US" sz="1500" dirty="0"/>
              <a:t> install express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B3E5556-E8CF-6C80-93D6-095619250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240" y="1126194"/>
            <a:ext cx="6446521" cy="412933"/>
          </a:xfrm>
        </p:spPr>
        <p:txBody>
          <a:bodyPr/>
          <a:lstStyle/>
          <a:p>
            <a:pPr algn="ctr"/>
            <a:r>
              <a:rPr lang="en-US" sz="1800" b="1" dirty="0"/>
              <a:t>Creating and Express Application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5C9EE7B-0242-9EEC-7F6C-77674E48F7E9}"/>
              </a:ext>
            </a:extLst>
          </p:cNvPr>
          <p:cNvSpPr/>
          <p:nvPr/>
        </p:nvSpPr>
        <p:spPr>
          <a:xfrm>
            <a:off x="137524" y="2258210"/>
            <a:ext cx="7575800" cy="287787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500" dirty="0"/>
              <a:t>const express = require("express");</a:t>
            </a:r>
          </a:p>
          <a:p>
            <a:r>
              <a:rPr lang="en-US" sz="1500" dirty="0"/>
              <a:t>const app = express();</a:t>
            </a:r>
          </a:p>
          <a:p>
            <a:r>
              <a:rPr lang="en-US" sz="1500" dirty="0"/>
              <a:t>const port = 3000;</a:t>
            </a:r>
          </a:p>
          <a:p>
            <a:endParaRPr lang="en-US" sz="1500" dirty="0"/>
          </a:p>
          <a:p>
            <a:r>
              <a:rPr lang="en-US" sz="1500" dirty="0" err="1"/>
              <a:t>app.get</a:t>
            </a:r>
            <a:r>
              <a:rPr lang="en-US" sz="1500" dirty="0"/>
              <a:t>("/", (req, res) =&gt; {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res.send</a:t>
            </a:r>
            <a:r>
              <a:rPr lang="en-US" sz="1500" dirty="0"/>
              <a:t>("Hello World!");</a:t>
            </a:r>
          </a:p>
          <a:p>
            <a:r>
              <a:rPr lang="en-US" sz="1500" dirty="0"/>
              <a:t>});</a:t>
            </a:r>
          </a:p>
          <a:p>
            <a:endParaRPr lang="en-US" sz="1500" dirty="0"/>
          </a:p>
          <a:p>
            <a:r>
              <a:rPr lang="en-US" sz="1500" dirty="0" err="1"/>
              <a:t>app.listen</a:t>
            </a:r>
            <a:r>
              <a:rPr lang="en-US" sz="1500" dirty="0"/>
              <a:t>(port, () =&gt; {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console.log</a:t>
            </a:r>
            <a:r>
              <a:rPr lang="en-US" sz="1500" dirty="0"/>
              <a:t>(`Example app listening at http://localhost:${port}`);</a:t>
            </a:r>
          </a:p>
          <a:p>
            <a:r>
              <a:rPr lang="en-US" sz="1500" dirty="0"/>
              <a:t>});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BD66C1-D790-2B6D-E1B5-6F7FC28E2285}"/>
              </a:ext>
            </a:extLst>
          </p:cNvPr>
          <p:cNvSpPr txBox="1"/>
          <p:nvPr/>
        </p:nvSpPr>
        <p:spPr>
          <a:xfrm>
            <a:off x="208052" y="5239977"/>
            <a:ext cx="661912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GB" sz="1500" dirty="0"/>
              <a:t>The above example uses the express package to create a new web-server that listens on port 3000. We can then set up listeners to respond to any given HTTP request. </a:t>
            </a:r>
          </a:p>
        </p:txBody>
      </p:sp>
    </p:spTree>
    <p:extLst>
      <p:ext uri="{BB962C8B-B14F-4D97-AF65-F5344CB8AC3E}">
        <p14:creationId xmlns:p14="http://schemas.microsoft.com/office/powerpoint/2010/main" val="32964641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B3E5556-E8CF-6C80-93D6-095619250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6123" y="816630"/>
            <a:ext cx="6446521" cy="412933"/>
          </a:xfrm>
        </p:spPr>
        <p:txBody>
          <a:bodyPr/>
          <a:lstStyle/>
          <a:p>
            <a:pPr algn="ctr"/>
            <a:r>
              <a:rPr lang="en-US" sz="1800" b="1" dirty="0"/>
              <a:t>Serving HTML files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ED06677-686A-C0FF-64E0-AA653E8E52A8}"/>
              </a:ext>
            </a:extLst>
          </p:cNvPr>
          <p:cNvSpPr/>
          <p:nvPr/>
        </p:nvSpPr>
        <p:spPr>
          <a:xfrm>
            <a:off x="98995" y="1214587"/>
            <a:ext cx="7575800" cy="3450479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500" dirty="0"/>
              <a:t>const express = require("express");</a:t>
            </a:r>
          </a:p>
          <a:p>
            <a:r>
              <a:rPr lang="en-US" sz="1500" dirty="0"/>
              <a:t>const path = require("path"); // this is a built in node package</a:t>
            </a:r>
          </a:p>
          <a:p>
            <a:endParaRPr lang="en-US" sz="1500" dirty="0"/>
          </a:p>
          <a:p>
            <a:r>
              <a:rPr lang="en-US" sz="1500" dirty="0"/>
              <a:t>const app = express();</a:t>
            </a:r>
          </a:p>
          <a:p>
            <a:r>
              <a:rPr lang="en-US" sz="1500" dirty="0"/>
              <a:t>const port = 3000;</a:t>
            </a:r>
          </a:p>
          <a:p>
            <a:endParaRPr lang="en-US" sz="1500" dirty="0"/>
          </a:p>
          <a:p>
            <a:r>
              <a:rPr lang="en-US" sz="1500" dirty="0" err="1"/>
              <a:t>app.get</a:t>
            </a:r>
            <a:r>
              <a:rPr lang="en-US" sz="1500" dirty="0"/>
              <a:t>("/", (req, res) =&gt; {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res.sendFile</a:t>
            </a:r>
            <a:r>
              <a:rPr lang="en-US" sz="1500" dirty="0"/>
              <a:t>(</a:t>
            </a:r>
            <a:r>
              <a:rPr lang="en-US" sz="1500" dirty="0" err="1"/>
              <a:t>path.resolve</a:t>
            </a:r>
            <a:r>
              <a:rPr lang="en-US" sz="1500" dirty="0"/>
              <a:t>(__</a:t>
            </a:r>
            <a:r>
              <a:rPr lang="en-US" sz="1500" dirty="0" err="1"/>
              <a:t>dirname</a:t>
            </a:r>
            <a:r>
              <a:rPr lang="en-US" sz="1500" dirty="0"/>
              <a:t>, "</a:t>
            </a:r>
            <a:r>
              <a:rPr lang="en-US" sz="1500" dirty="0" err="1"/>
              <a:t>index.html</a:t>
            </a:r>
            <a:r>
              <a:rPr lang="en-US" sz="1500" dirty="0"/>
              <a:t>"));</a:t>
            </a:r>
          </a:p>
          <a:p>
            <a:r>
              <a:rPr lang="en-US" sz="1500" dirty="0"/>
              <a:t>});</a:t>
            </a:r>
          </a:p>
          <a:p>
            <a:endParaRPr lang="en-US" sz="1500" dirty="0"/>
          </a:p>
          <a:p>
            <a:r>
              <a:rPr lang="en-US" sz="1500" dirty="0" err="1"/>
              <a:t>app.listen</a:t>
            </a:r>
            <a:r>
              <a:rPr lang="en-US" sz="1500" dirty="0"/>
              <a:t>(port, () =&gt; {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console.log</a:t>
            </a:r>
            <a:r>
              <a:rPr lang="en-US" sz="1500" dirty="0"/>
              <a:t>(`Example app listening at http://localhost:${port}`);</a:t>
            </a:r>
          </a:p>
          <a:p>
            <a:r>
              <a:rPr lang="en-US" sz="1500" dirty="0"/>
              <a:t>});</a:t>
            </a:r>
          </a:p>
          <a:p>
            <a:endParaRPr lang="en-US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978225-170F-CA42-CD00-B3812503E4FF}"/>
              </a:ext>
            </a:extLst>
          </p:cNvPr>
          <p:cNvSpPr txBox="1"/>
          <p:nvPr/>
        </p:nvSpPr>
        <p:spPr>
          <a:xfrm>
            <a:off x="231169" y="4768164"/>
            <a:ext cx="8655255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1650" dirty="0"/>
              <a:t>Above, we return an </a:t>
            </a:r>
            <a:r>
              <a:rPr lang="en-GB" sz="1650" dirty="0" err="1"/>
              <a:t>index.html</a:t>
            </a:r>
            <a:r>
              <a:rPr lang="en-GB" sz="1650" dirty="0"/>
              <a:t> file when a request is received to the root of our website.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B177B3-95F1-FD23-CDB8-4593C0DB43AC}"/>
              </a:ext>
            </a:extLst>
          </p:cNvPr>
          <p:cNvSpPr txBox="1"/>
          <p:nvPr/>
        </p:nvSpPr>
        <p:spPr>
          <a:xfrm>
            <a:off x="231169" y="5110915"/>
            <a:ext cx="10421443" cy="623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GB" sz="1650" dirty="0" err="1"/>
              <a:t>path.resolve</a:t>
            </a:r>
            <a:r>
              <a:rPr lang="en-GB" sz="1650" dirty="0"/>
              <a:t> is a Node.js method that resolves a sequence of path segments into an absolute path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GB" dirty="0"/>
              <a:t>e.g., if your current directory is “/user/example” the output would be “/user/example/</a:t>
            </a:r>
            <a:r>
              <a:rPr lang="en-GB" dirty="0" err="1"/>
              <a:t>index.html</a:t>
            </a:r>
            <a:r>
              <a:rPr lang="en-GB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72621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B3E5556-E8CF-6C80-93D6-095619250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6123" y="816630"/>
            <a:ext cx="6446521" cy="412933"/>
          </a:xfrm>
        </p:spPr>
        <p:txBody>
          <a:bodyPr/>
          <a:lstStyle/>
          <a:p>
            <a:pPr algn="ctr"/>
            <a:r>
              <a:rPr lang="en-US" sz="1800" b="1" dirty="0"/>
              <a:t>Using the Static Middleware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49004A-2A03-353A-EE18-F382F1112BCF}"/>
              </a:ext>
            </a:extLst>
          </p:cNvPr>
          <p:cNvSpPr txBox="1"/>
          <p:nvPr/>
        </p:nvSpPr>
        <p:spPr>
          <a:xfrm>
            <a:off x="417569" y="1229562"/>
            <a:ext cx="74436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/>
              <a:t>Currently we cannot serve static assets such as CSS and images in our HTML pages.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/>
              <a:t>We are only sending a single HTML file, not linked assets (e.g., images, </a:t>
            </a:r>
            <a:r>
              <a:rPr lang="en-GB" dirty="0" err="1"/>
              <a:t>css</a:t>
            </a:r>
            <a:r>
              <a:rPr lang="en-GB" dirty="0"/>
              <a:t>, and JavaScript)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/>
              <a:t>To configure this functionality, we need to use some middleware.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>
                <a:hlinkClick r:id="rId7"/>
              </a:rPr>
              <a:t>Middleware can is bult into express, and there is also third-party modules you can use</a:t>
            </a:r>
            <a:endParaRPr lang="en-GB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/>
              <a:t>We can use middleware to handle concerns such as </a:t>
            </a:r>
          </a:p>
          <a:p>
            <a:pPr lvl="1"/>
            <a:endParaRPr lang="en-GB" dirty="0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A4D0F8D5-36D0-9E22-26AC-59A985464D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815" y="2317012"/>
            <a:ext cx="3471135" cy="357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6614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B3E5556-E8CF-6C80-93D6-095619250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6123" y="816630"/>
            <a:ext cx="6446521" cy="412933"/>
          </a:xfrm>
        </p:spPr>
        <p:txBody>
          <a:bodyPr/>
          <a:lstStyle/>
          <a:p>
            <a:pPr algn="ctr"/>
            <a:r>
              <a:rPr lang="en-US" sz="1800" b="1" dirty="0"/>
              <a:t>Serving Static Assets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F4E4FE-89D4-951A-CD43-2A6EFBF0849E}"/>
              </a:ext>
            </a:extLst>
          </p:cNvPr>
          <p:cNvSpPr txBox="1"/>
          <p:nvPr/>
        </p:nvSpPr>
        <p:spPr>
          <a:xfrm>
            <a:off x="323637" y="1527288"/>
            <a:ext cx="759773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GB" sz="2100" dirty="0"/>
              <a:t>Below, we instruct express to serve assets from a folder in our root directory called </a:t>
            </a:r>
            <a:r>
              <a:rPr lang="en-GB" sz="2100" b="1" dirty="0"/>
              <a:t>public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GB" sz="2100" b="1" dirty="0"/>
              <a:t>Note, </a:t>
            </a:r>
            <a:r>
              <a:rPr lang="en-GB" sz="2100" dirty="0"/>
              <a:t>use “</a:t>
            </a:r>
            <a:r>
              <a:rPr lang="en-GB" sz="2100" dirty="0" err="1"/>
              <a:t>express.use</a:t>
            </a:r>
            <a:r>
              <a:rPr lang="en-GB" sz="2100" dirty="0"/>
              <a:t>” to set up middleware </a:t>
            </a:r>
            <a:endParaRPr lang="en-GB" sz="2100" b="1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7C8218B-8671-ED40-7829-8170073B0661}"/>
              </a:ext>
            </a:extLst>
          </p:cNvPr>
          <p:cNvSpPr/>
          <p:nvPr/>
        </p:nvSpPr>
        <p:spPr>
          <a:xfrm>
            <a:off x="391703" y="2627295"/>
            <a:ext cx="8360595" cy="103704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 err="1"/>
              <a:t>const</a:t>
            </a:r>
            <a:r>
              <a:rPr lang="en-GB" dirty="0"/>
              <a:t> express = require("express");</a:t>
            </a:r>
          </a:p>
          <a:p>
            <a:r>
              <a:rPr lang="en-GB" dirty="0" err="1"/>
              <a:t>const</a:t>
            </a:r>
            <a:r>
              <a:rPr lang="en-GB" dirty="0"/>
              <a:t> path = require("path");</a:t>
            </a:r>
          </a:p>
          <a:p>
            <a:r>
              <a:rPr lang="en-GB" dirty="0" err="1"/>
              <a:t>const</a:t>
            </a:r>
            <a:r>
              <a:rPr lang="en-GB" dirty="0"/>
              <a:t> app = express();</a:t>
            </a:r>
          </a:p>
          <a:p>
            <a:r>
              <a:rPr lang="en-GB" dirty="0" err="1"/>
              <a:t>app.use</a:t>
            </a:r>
            <a:r>
              <a:rPr lang="en-GB" dirty="0"/>
              <a:t>(</a:t>
            </a:r>
            <a:r>
              <a:rPr lang="en-GB" dirty="0" err="1"/>
              <a:t>express.static</a:t>
            </a:r>
            <a:r>
              <a:rPr lang="en-GB" dirty="0"/>
              <a:t>(</a:t>
            </a:r>
            <a:r>
              <a:rPr lang="en-GB" dirty="0" err="1"/>
              <a:t>path.join</a:t>
            </a:r>
            <a:r>
              <a:rPr lang="en-GB" dirty="0"/>
              <a:t>(__</a:t>
            </a:r>
            <a:r>
              <a:rPr lang="en-GB" dirty="0" err="1"/>
              <a:t>dirname</a:t>
            </a:r>
            <a:r>
              <a:rPr lang="en-GB" dirty="0"/>
              <a:t>, "public")));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78B481-B45A-ED55-6AEC-E7465A678A40}"/>
              </a:ext>
            </a:extLst>
          </p:cNvPr>
          <p:cNvSpPr txBox="1"/>
          <p:nvPr/>
        </p:nvSpPr>
        <p:spPr>
          <a:xfrm>
            <a:off x="391703" y="3785386"/>
            <a:ext cx="77287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Above, express looks up the files relative to the static directory public: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100" dirty="0"/>
              <a:t>the name of the static directory is not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100" dirty="0"/>
              <a:t>if we place the image </a:t>
            </a:r>
            <a:r>
              <a:rPr lang="en-GB" sz="2100" dirty="0" err="1"/>
              <a:t>foo.jpeg</a:t>
            </a:r>
            <a:r>
              <a:rPr lang="en-GB" sz="2100" dirty="0"/>
              <a:t> in the public folder we would reference it in </a:t>
            </a:r>
            <a:r>
              <a:rPr lang="en-GB" sz="2100" dirty="0" err="1"/>
              <a:t>index.html</a:t>
            </a:r>
            <a:r>
              <a:rPr lang="en-GB" sz="2100" dirty="0"/>
              <a:t> like this, &lt;</a:t>
            </a:r>
            <a:r>
              <a:rPr lang="en-GB" sz="2100" dirty="0" err="1"/>
              <a:t>img</a:t>
            </a:r>
            <a:r>
              <a:rPr lang="en-GB" sz="2100" dirty="0"/>
              <a:t> </a:t>
            </a:r>
            <a:r>
              <a:rPr lang="en-GB" sz="2100" dirty="0" err="1"/>
              <a:t>src</a:t>
            </a:r>
            <a:r>
              <a:rPr lang="en-GB" sz="2100" dirty="0"/>
              <a:t>="</a:t>
            </a:r>
            <a:r>
              <a:rPr lang="en-GB" sz="2100" dirty="0" err="1"/>
              <a:t>foo.jpeg</a:t>
            </a:r>
            <a:r>
              <a:rPr lang="en-GB" sz="2100" dirty="0"/>
              <a:t>" /&gt;.</a:t>
            </a:r>
          </a:p>
        </p:txBody>
      </p:sp>
    </p:spTree>
    <p:extLst>
      <p:ext uri="{BB962C8B-B14F-4D97-AF65-F5344CB8AC3E}">
        <p14:creationId xmlns:p14="http://schemas.microsoft.com/office/powerpoint/2010/main" val="12191473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4819DEA-E799-DB42-0D08-60E8BC8EF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7895" y="2370666"/>
            <a:ext cx="7095520" cy="1058334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892281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B3E5556-E8CF-6C80-93D6-095619250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43" y="1126194"/>
            <a:ext cx="6446521" cy="412933"/>
          </a:xfrm>
        </p:spPr>
        <p:txBody>
          <a:bodyPr/>
          <a:lstStyle/>
          <a:p>
            <a:pPr algn="ctr"/>
            <a:r>
              <a:rPr lang="en-US" sz="2100" b="1" dirty="0"/>
              <a:t>What’s wrong with just 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16325-6DC1-770C-A616-0D7D59E8670A}"/>
              </a:ext>
            </a:extLst>
          </p:cNvPr>
          <p:cNvSpPr txBox="1"/>
          <p:nvPr/>
        </p:nvSpPr>
        <p:spPr>
          <a:xfrm>
            <a:off x="146406" y="1878598"/>
            <a:ext cx="8783596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Serving plain HTML files provides us with a means to present a website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How do we inject data into our html pages?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Shared components or layouts must be replicated across different HTML files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As web applications grow in complexity, maintaining a large codebase written in pure HTML becomes increasingly challenging.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 The lack of a clear separation of concerns makes it difficult to manage the presentation layer independently from the application logic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02245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B3E5556-E8CF-6C80-93D6-095619250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43" y="1126194"/>
            <a:ext cx="6446521" cy="412933"/>
          </a:xfrm>
        </p:spPr>
        <p:txBody>
          <a:bodyPr/>
          <a:lstStyle/>
          <a:p>
            <a:pPr algn="ctr"/>
            <a:r>
              <a:rPr lang="en-US" sz="2100" b="1" dirty="0"/>
              <a:t>Templating to the Rescue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16325-6DC1-770C-A616-0D7D59E8670A}"/>
              </a:ext>
            </a:extLst>
          </p:cNvPr>
          <p:cNvSpPr txBox="1"/>
          <p:nvPr/>
        </p:nvSpPr>
        <p:spPr>
          <a:xfrm>
            <a:off x="180202" y="1810011"/>
            <a:ext cx="8783596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Templating allows for the dynamic generation of content in web applications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Templating promotes code reusability by separating the HTML structure from the data</a:t>
            </a:r>
          </a:p>
          <a:p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Shared components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Templating ensures consistent layouts across different pages of a website.</a:t>
            </a:r>
          </a:p>
          <a:p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Some popular templating languages include: </a:t>
            </a:r>
            <a:r>
              <a:rPr lang="en-GB" sz="2100" dirty="0">
                <a:latin typeface="Söhne"/>
                <a:hlinkClick r:id="rId7"/>
              </a:rPr>
              <a:t>EJS</a:t>
            </a:r>
            <a:r>
              <a:rPr lang="en-GB" sz="2100" dirty="0">
                <a:latin typeface="Söhne"/>
              </a:rPr>
              <a:t>, </a:t>
            </a:r>
            <a:r>
              <a:rPr lang="en-GB" sz="2100" dirty="0">
                <a:latin typeface="Söhne"/>
                <a:hlinkClick r:id="rId8"/>
              </a:rPr>
              <a:t>Handlebars</a:t>
            </a:r>
            <a:r>
              <a:rPr lang="en-GB" sz="2100" dirty="0">
                <a:latin typeface="Söhne"/>
              </a:rPr>
              <a:t>, </a:t>
            </a:r>
            <a:r>
              <a:rPr lang="en-GB" sz="2100" dirty="0">
                <a:solidFill>
                  <a:srgbClr val="ECECF1"/>
                </a:solidFill>
                <a:latin typeface="Söhne"/>
                <a:hlinkClick r:id="rId9"/>
              </a:rPr>
              <a:t>Mustache</a:t>
            </a:r>
            <a:r>
              <a:rPr lang="en-GB" sz="2100" dirty="0">
                <a:latin typeface="Söhne"/>
              </a:rPr>
              <a:t> , and</a:t>
            </a:r>
            <a:r>
              <a:rPr lang="en-GB" sz="2100" dirty="0">
                <a:solidFill>
                  <a:srgbClr val="ECECF1"/>
                </a:solidFill>
                <a:latin typeface="Söhne"/>
              </a:rPr>
              <a:t> </a:t>
            </a:r>
            <a:r>
              <a:rPr lang="en-GB" sz="2100" dirty="0">
                <a:latin typeface="Söhne"/>
                <a:hlinkClick r:id="rId10"/>
              </a:rPr>
              <a:t>Pug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80724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B3E5556-E8CF-6C80-93D6-095619250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43" y="1126194"/>
            <a:ext cx="6446521" cy="412933"/>
          </a:xfrm>
        </p:spPr>
        <p:txBody>
          <a:bodyPr/>
          <a:lstStyle/>
          <a:p>
            <a:pPr algn="ctr"/>
            <a:r>
              <a:rPr lang="en-US" sz="2100" b="1" dirty="0"/>
              <a:t>Express supports templating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16325-6DC1-770C-A616-0D7D59E8670A}"/>
              </a:ext>
            </a:extLst>
          </p:cNvPr>
          <p:cNvSpPr txBox="1"/>
          <p:nvPr/>
        </p:nvSpPr>
        <p:spPr>
          <a:xfrm>
            <a:off x="180202" y="1810011"/>
            <a:ext cx="878359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We’ll use EJS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EJS is simple to use. First, we need to install it: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E96CF8-624C-91C6-9FA3-64F39DE551AD}"/>
              </a:ext>
            </a:extLst>
          </p:cNvPr>
          <p:cNvSpPr/>
          <p:nvPr/>
        </p:nvSpPr>
        <p:spPr>
          <a:xfrm>
            <a:off x="257259" y="2642291"/>
            <a:ext cx="7753028" cy="41293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/>
              <a:t>&gt;  </a:t>
            </a:r>
            <a:r>
              <a:rPr lang="en-US" sz="1500" dirty="0" err="1"/>
              <a:t>npm</a:t>
            </a:r>
            <a:r>
              <a:rPr lang="en-US" sz="1500" dirty="0"/>
              <a:t> install </a:t>
            </a:r>
            <a:r>
              <a:rPr lang="en-US" sz="1500" dirty="0" err="1"/>
              <a:t>ejs</a:t>
            </a:r>
            <a:endParaRPr lang="en-US" sz="1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76C194-D383-AA58-058F-7C30C30A2325}"/>
              </a:ext>
            </a:extLst>
          </p:cNvPr>
          <p:cNvSpPr txBox="1"/>
          <p:nvPr/>
        </p:nvSpPr>
        <p:spPr>
          <a:xfrm>
            <a:off x="257259" y="3368129"/>
            <a:ext cx="87835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BCD49-4C53-0862-7FDA-C2A6E8FE5C31}"/>
              </a:ext>
            </a:extLst>
          </p:cNvPr>
          <p:cNvSpPr txBox="1"/>
          <p:nvPr/>
        </p:nvSpPr>
        <p:spPr>
          <a:xfrm>
            <a:off x="180201" y="3498415"/>
            <a:ext cx="87835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We can now tell express to render our html pages using </a:t>
            </a:r>
            <a:r>
              <a:rPr lang="en-GB" sz="2100" dirty="0" err="1"/>
              <a:t>ejs</a:t>
            </a:r>
            <a:r>
              <a:rPr lang="en-GB" sz="2100" dirty="0"/>
              <a:t>. Below is a full example.</a:t>
            </a:r>
          </a:p>
        </p:txBody>
      </p:sp>
    </p:spTree>
    <p:extLst>
      <p:ext uri="{BB962C8B-B14F-4D97-AF65-F5344CB8AC3E}">
        <p14:creationId xmlns:p14="http://schemas.microsoft.com/office/powerpoint/2010/main" val="42482010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B3E5556-E8CF-6C80-93D6-095619250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43" y="1126194"/>
            <a:ext cx="6446521" cy="412933"/>
          </a:xfrm>
        </p:spPr>
        <p:txBody>
          <a:bodyPr/>
          <a:lstStyle/>
          <a:p>
            <a:pPr algn="ctr"/>
            <a:r>
              <a:rPr lang="en-US" sz="2100" b="1" dirty="0"/>
              <a:t>Using EJS (</a:t>
            </a:r>
            <a:r>
              <a:rPr lang="en-US" sz="2100" b="1" dirty="0" err="1"/>
              <a:t>i</a:t>
            </a:r>
            <a:r>
              <a:rPr lang="en-US" sz="2100" b="1" dirty="0"/>
              <a:t>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E96CF8-624C-91C6-9FA3-64F39DE551AD}"/>
              </a:ext>
            </a:extLst>
          </p:cNvPr>
          <p:cNvSpPr/>
          <p:nvPr/>
        </p:nvSpPr>
        <p:spPr>
          <a:xfrm>
            <a:off x="257259" y="1630657"/>
            <a:ext cx="7753028" cy="380342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500" dirty="0"/>
              <a:t>const express = require("express");</a:t>
            </a:r>
          </a:p>
          <a:p>
            <a:r>
              <a:rPr lang="en-US" sz="1500" dirty="0"/>
              <a:t>const path = require("path");</a:t>
            </a:r>
          </a:p>
          <a:p>
            <a:r>
              <a:rPr lang="en-US" sz="1500" dirty="0"/>
              <a:t>const app = express();</a:t>
            </a:r>
          </a:p>
          <a:p>
            <a:r>
              <a:rPr lang="en-US" sz="1500" dirty="0"/>
              <a:t>const port = 20000;</a:t>
            </a:r>
          </a:p>
          <a:p>
            <a:r>
              <a:rPr lang="en-US" sz="1500" dirty="0" err="1"/>
              <a:t>app.set</a:t>
            </a:r>
            <a:r>
              <a:rPr lang="en-US" sz="1500" dirty="0"/>
              <a:t>("view engine", "</a:t>
            </a:r>
            <a:r>
              <a:rPr lang="en-US" sz="1500" dirty="0" err="1"/>
              <a:t>ejs</a:t>
            </a:r>
            <a:r>
              <a:rPr lang="en-US" sz="1500" dirty="0"/>
              <a:t>");</a:t>
            </a:r>
          </a:p>
          <a:p>
            <a:r>
              <a:rPr lang="en-US" sz="1500" dirty="0" err="1"/>
              <a:t>app.use</a:t>
            </a:r>
            <a:r>
              <a:rPr lang="en-US" sz="1500" dirty="0"/>
              <a:t>(</a:t>
            </a:r>
            <a:r>
              <a:rPr lang="en-US" sz="1500" dirty="0" err="1"/>
              <a:t>express.static</a:t>
            </a:r>
            <a:r>
              <a:rPr lang="en-US" sz="1500" dirty="0"/>
              <a:t>(</a:t>
            </a:r>
            <a:r>
              <a:rPr lang="en-US" sz="1500" dirty="0" err="1"/>
              <a:t>path.join</a:t>
            </a:r>
            <a:r>
              <a:rPr lang="en-US" sz="1500" dirty="0"/>
              <a:t>(__</a:t>
            </a:r>
            <a:r>
              <a:rPr lang="en-US" sz="1500" dirty="0" err="1"/>
              <a:t>dirname</a:t>
            </a:r>
            <a:r>
              <a:rPr lang="en-US" sz="1500" dirty="0"/>
              <a:t>, "public")));</a:t>
            </a:r>
          </a:p>
          <a:p>
            <a:endParaRPr lang="en-US" sz="1500" dirty="0"/>
          </a:p>
          <a:p>
            <a:r>
              <a:rPr lang="en-US" sz="1500" dirty="0" err="1"/>
              <a:t>app.get</a:t>
            </a:r>
            <a:r>
              <a:rPr lang="en-US" sz="1500" dirty="0"/>
              <a:t>("/", (req, res) =&gt; {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res.render</a:t>
            </a:r>
            <a:r>
              <a:rPr lang="en-US" sz="1500" dirty="0"/>
              <a:t>("index");</a:t>
            </a:r>
          </a:p>
          <a:p>
            <a:r>
              <a:rPr lang="en-US" sz="1500" dirty="0"/>
              <a:t>});</a:t>
            </a:r>
          </a:p>
          <a:p>
            <a:endParaRPr lang="en-US" sz="1500" dirty="0"/>
          </a:p>
          <a:p>
            <a:r>
              <a:rPr lang="en-US" sz="1500" dirty="0" err="1"/>
              <a:t>app.listen</a:t>
            </a:r>
            <a:r>
              <a:rPr lang="en-US" sz="1500" dirty="0"/>
              <a:t>(port, () =&gt; {</a:t>
            </a:r>
          </a:p>
          <a:p>
            <a:r>
              <a:rPr lang="en-US" sz="1500" dirty="0"/>
              <a:t>  </a:t>
            </a:r>
            <a:r>
              <a:rPr lang="en-US" sz="1500" dirty="0" err="1"/>
              <a:t>console.log</a:t>
            </a:r>
            <a:r>
              <a:rPr lang="en-US" sz="1500" dirty="0"/>
              <a:t>(`Example app listening at http://localhost:${port}`);</a:t>
            </a:r>
          </a:p>
          <a:p>
            <a:r>
              <a:rPr lang="en-US" sz="1500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40488758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B3E5556-E8CF-6C80-93D6-095619250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43" y="1126194"/>
            <a:ext cx="6446521" cy="412933"/>
          </a:xfrm>
        </p:spPr>
        <p:txBody>
          <a:bodyPr/>
          <a:lstStyle/>
          <a:p>
            <a:pPr algn="ctr"/>
            <a:r>
              <a:rPr lang="en-US" sz="2100" b="1" dirty="0"/>
              <a:t>Using EJS (</a:t>
            </a:r>
            <a:r>
              <a:rPr lang="en-US" sz="2100" b="1" dirty="0" err="1"/>
              <a:t>iI</a:t>
            </a:r>
            <a:r>
              <a:rPr lang="en-US" sz="2100" b="1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16325-6DC1-770C-A616-0D7D59E8670A}"/>
              </a:ext>
            </a:extLst>
          </p:cNvPr>
          <p:cNvSpPr txBox="1"/>
          <p:nvPr/>
        </p:nvSpPr>
        <p:spPr>
          <a:xfrm>
            <a:off x="180202" y="1916702"/>
            <a:ext cx="878359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Express will assume that we have an </a:t>
            </a:r>
            <a:r>
              <a:rPr lang="en-GB" sz="2100" dirty="0" err="1"/>
              <a:t>index.ejs</a:t>
            </a:r>
            <a:r>
              <a:rPr lang="en-GB" sz="2100" dirty="0"/>
              <a:t> file in a views folder which lives in the root directory of your project.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EJS, is a superset of HTML. This means, to get the above example to work, we can simply rename our any html file to </a:t>
            </a:r>
            <a:r>
              <a:rPr lang="en-GB" sz="2100" dirty="0" err="1"/>
              <a:t>index.ejs</a:t>
            </a:r>
            <a:r>
              <a:rPr lang="en-GB" sz="2100" dirty="0"/>
              <a:t> and move it to a views folder.</a:t>
            </a:r>
          </a:p>
          <a:p>
            <a:endParaRPr lang="en-GB" sz="21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100" dirty="0"/>
              <a:t>Using EJS, we now have some dynamic capabilities within our HTML views. </a:t>
            </a:r>
          </a:p>
        </p:txBody>
      </p:sp>
    </p:spTree>
    <p:extLst>
      <p:ext uri="{BB962C8B-B14F-4D97-AF65-F5344CB8AC3E}">
        <p14:creationId xmlns:p14="http://schemas.microsoft.com/office/powerpoint/2010/main" val="32745743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B3E5556-E8CF-6C80-93D6-095619250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43" y="1126194"/>
            <a:ext cx="6446521" cy="412933"/>
          </a:xfrm>
        </p:spPr>
        <p:txBody>
          <a:bodyPr/>
          <a:lstStyle/>
          <a:p>
            <a:pPr algn="ctr"/>
            <a:r>
              <a:rPr lang="en-US" sz="2100" b="1" dirty="0"/>
              <a:t>EJS Allows HTML to be chunked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E96CF8-624C-91C6-9FA3-64F39DE551AD}"/>
              </a:ext>
            </a:extLst>
          </p:cNvPr>
          <p:cNvSpPr/>
          <p:nvPr/>
        </p:nvSpPr>
        <p:spPr>
          <a:xfrm>
            <a:off x="195613" y="3834464"/>
            <a:ext cx="7753028" cy="209400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500" dirty="0"/>
              <a:t>&lt;!-- views/</a:t>
            </a:r>
            <a:r>
              <a:rPr lang="en-US" sz="1500" dirty="0" err="1"/>
              <a:t>index.ejs</a:t>
            </a:r>
            <a:r>
              <a:rPr lang="en-US" sz="1500" dirty="0"/>
              <a:t> --&gt;</a:t>
            </a:r>
          </a:p>
          <a:p>
            <a:r>
              <a:rPr lang="en-US" sz="1500" dirty="0"/>
              <a:t>...</a:t>
            </a:r>
          </a:p>
          <a:p>
            <a:r>
              <a:rPr lang="en-US" sz="1500" dirty="0"/>
              <a:t>&lt;body&gt;</a:t>
            </a:r>
          </a:p>
          <a:p>
            <a:r>
              <a:rPr lang="en-US" sz="1500" dirty="0"/>
              <a:t>  &lt;%- include('common/header'); %&gt;</a:t>
            </a:r>
          </a:p>
          <a:p>
            <a:r>
              <a:rPr lang="en-US" sz="1500" dirty="0"/>
              <a:t>  &lt;h1&gt;Home Page&lt;/h1&gt;</a:t>
            </a:r>
          </a:p>
          <a:p>
            <a:r>
              <a:rPr lang="en-US" sz="1500" dirty="0"/>
              <a:t>  &lt;</a:t>
            </a:r>
            <a:r>
              <a:rPr lang="en-US" sz="1500" dirty="0" err="1"/>
              <a:t>img</a:t>
            </a:r>
            <a:r>
              <a:rPr lang="en-US" sz="1500" dirty="0"/>
              <a:t> </a:t>
            </a:r>
            <a:r>
              <a:rPr lang="en-US" sz="1500" dirty="0" err="1"/>
              <a:t>src</a:t>
            </a:r>
            <a:r>
              <a:rPr lang="en-US" sz="1500" dirty="0"/>
              <a:t>="</a:t>
            </a:r>
            <a:r>
              <a:rPr lang="en-US" sz="1500" dirty="0" err="1"/>
              <a:t>test.jpeg</a:t>
            </a:r>
            <a:r>
              <a:rPr lang="en-US" sz="1500" dirty="0"/>
              <a:t>" alt="wtf" /&gt;</a:t>
            </a:r>
          </a:p>
          <a:p>
            <a:r>
              <a:rPr lang="en-US" sz="1500" dirty="0"/>
              <a:t>&lt;/body&gt;</a:t>
            </a:r>
          </a:p>
          <a:p>
            <a:r>
              <a:rPr lang="en-US" sz="1500" dirty="0"/>
              <a:t>...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07FDF22-64EF-3274-011C-02A1CCB85198}"/>
              </a:ext>
            </a:extLst>
          </p:cNvPr>
          <p:cNvSpPr/>
          <p:nvPr/>
        </p:nvSpPr>
        <p:spPr>
          <a:xfrm>
            <a:off x="195613" y="1539126"/>
            <a:ext cx="7753028" cy="220866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500" dirty="0"/>
              <a:t>&lt;!-- views/common/</a:t>
            </a:r>
            <a:r>
              <a:rPr lang="en-US" sz="1500" dirty="0" err="1"/>
              <a:t>header.ejs</a:t>
            </a:r>
            <a:r>
              <a:rPr lang="en-US" sz="1500" dirty="0"/>
              <a:t> --&gt;</a:t>
            </a:r>
          </a:p>
          <a:p>
            <a:r>
              <a:rPr lang="en-US" sz="1500" dirty="0"/>
              <a:t>&lt;</a:t>
            </a:r>
            <a:r>
              <a:rPr lang="en-US" sz="1500" dirty="0" err="1"/>
              <a:t>ul</a:t>
            </a:r>
            <a:r>
              <a:rPr lang="en-US" sz="1500" dirty="0"/>
              <a:t>&gt;</a:t>
            </a:r>
          </a:p>
          <a:p>
            <a:r>
              <a:rPr lang="en-US" sz="1500" dirty="0"/>
              <a:t>  &lt;li&gt;&lt;a </a:t>
            </a:r>
            <a:r>
              <a:rPr lang="en-US" sz="1500" dirty="0" err="1"/>
              <a:t>href</a:t>
            </a:r>
            <a:r>
              <a:rPr lang="en-US" sz="1500" dirty="0"/>
              <a:t>="home"&gt;Home&lt;/a&gt;&lt;/li&gt;</a:t>
            </a:r>
          </a:p>
          <a:p>
            <a:r>
              <a:rPr lang="en-US" sz="1500" dirty="0"/>
              <a:t>  &lt;li&gt;&lt;a </a:t>
            </a:r>
            <a:r>
              <a:rPr lang="en-US" sz="1500" dirty="0" err="1"/>
              <a:t>href</a:t>
            </a:r>
            <a:r>
              <a:rPr lang="en-US" sz="1500" dirty="0"/>
              <a:t>="about"&gt;&lt;/a&gt;About&lt;/li&gt;</a:t>
            </a:r>
          </a:p>
          <a:p>
            <a:r>
              <a:rPr lang="en-US" sz="1500" dirty="0"/>
              <a:t>  &lt;li&gt;&lt;a </a:t>
            </a:r>
            <a:r>
              <a:rPr lang="en-US" sz="1500" dirty="0" err="1"/>
              <a:t>href</a:t>
            </a:r>
            <a:r>
              <a:rPr lang="en-US" sz="1500" dirty="0"/>
              <a:t>="contact"&gt;Contact&lt;/a&gt;&lt;/li&gt;</a:t>
            </a:r>
          </a:p>
          <a:p>
            <a:r>
              <a:rPr lang="en-US" sz="1500" dirty="0"/>
              <a:t>&lt;/</a:t>
            </a:r>
            <a:r>
              <a:rPr lang="en-US" sz="1500" dirty="0" err="1"/>
              <a:t>ul</a:t>
            </a:r>
            <a:r>
              <a:rPr lang="en-US" sz="15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497134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14:cNvPr>
              <p14:cNvContentPartPr/>
              <p14:nvPr/>
            </p14:nvContentPartPr>
            <p14:xfrm>
              <a:off x="1758240" y="1332660"/>
              <a:ext cx="270" cy="27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4C482-9898-819A-AADB-474A457EB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3650" y="1328070"/>
                <a:ext cx="9450" cy="945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4CDF2279-46FC-B9E5-9C97-9FBCCFCC5547}"/>
              </a:ext>
            </a:extLst>
          </p:cNvPr>
          <p:cNvGrpSpPr/>
          <p:nvPr/>
        </p:nvGrpSpPr>
        <p:grpSpPr>
          <a:xfrm>
            <a:off x="1830330" y="1423920"/>
            <a:ext cx="270" cy="270"/>
            <a:chOff x="2440440" y="755560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4A5B15-D229-34AC-3D71-5D8A569BD4B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14:cNvPr>
                <p14:cNvContentPartPr/>
                <p14:nvPr/>
              </p14:nvContentPartPr>
              <p14:xfrm>
                <a:off x="2440440" y="755560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1B23C1-C528-8FA8-2F6D-AAEC120E7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4320" y="7494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AutoShape 4" descr="Google Chrome logo. Chrome is a fast and secure web browser.">
            <a:extLst>
              <a:ext uri="{FF2B5EF4-FFF2-40B4-BE49-F238E27FC236}">
                <a16:creationId xmlns:a16="http://schemas.microsoft.com/office/drawing/2014/main" id="{988729BB-0C9F-EECB-15A8-1768818A02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B3E5556-E8CF-6C80-93D6-095619250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426" y="1217454"/>
            <a:ext cx="6446521" cy="412933"/>
          </a:xfrm>
        </p:spPr>
        <p:txBody>
          <a:bodyPr/>
          <a:lstStyle/>
          <a:p>
            <a:pPr algn="ctr"/>
            <a:r>
              <a:rPr lang="en-US" sz="2100" b="1" dirty="0"/>
              <a:t>Different types of Tags</a:t>
            </a:r>
            <a:br>
              <a:rPr lang="en-US" sz="2100" b="1" dirty="0"/>
            </a:br>
            <a:endParaRPr lang="en-US" sz="21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B6544B-2701-D6D3-DBFB-3AA3B4972BCD}"/>
              </a:ext>
            </a:extLst>
          </p:cNvPr>
          <p:cNvSpPr txBox="1"/>
          <p:nvPr/>
        </p:nvSpPr>
        <p:spPr>
          <a:xfrm>
            <a:off x="462337" y="1630386"/>
            <a:ext cx="48545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/>
              <a:t>We will investigate more dynamic EJS tags next week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>
                <a:hlinkClick r:id="rId7"/>
              </a:rPr>
              <a:t>You can get a full list of tags from the EJS docs:</a:t>
            </a:r>
            <a:endParaRPr lang="en-GB" dirty="0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896E859F-0F79-0820-0945-EF8011FECB9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08"/>
          <a:stretch/>
        </p:blipFill>
        <p:spPr>
          <a:xfrm>
            <a:off x="356974" y="2459971"/>
            <a:ext cx="5829300" cy="216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871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4819DEA-E799-DB42-0D08-60E8BC8EF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7895" y="2370666"/>
            <a:ext cx="7095520" cy="1058334"/>
          </a:xfrm>
        </p:spPr>
        <p:txBody>
          <a:bodyPr/>
          <a:lstStyle/>
          <a:p>
            <a:r>
              <a:rPr lang="en-US" dirty="0"/>
              <a:t>DEMO (SEE Lecture TAB)</a:t>
            </a:r>
          </a:p>
        </p:txBody>
      </p:sp>
    </p:spTree>
    <p:extLst>
      <p:ext uri="{BB962C8B-B14F-4D97-AF65-F5344CB8AC3E}">
        <p14:creationId xmlns:p14="http://schemas.microsoft.com/office/powerpoint/2010/main" val="24174251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4819DEA-E799-DB42-0D08-60E8BC8EF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7895" y="2370666"/>
            <a:ext cx="7095520" cy="1058334"/>
          </a:xfrm>
        </p:spPr>
        <p:txBody>
          <a:bodyPr/>
          <a:lstStyle/>
          <a:p>
            <a:r>
              <a:rPr lang="en-US" dirty="0"/>
              <a:t>End of lecture</a:t>
            </a:r>
          </a:p>
        </p:txBody>
      </p:sp>
    </p:spTree>
    <p:extLst>
      <p:ext uri="{BB962C8B-B14F-4D97-AF65-F5344CB8AC3E}">
        <p14:creationId xmlns:p14="http://schemas.microsoft.com/office/powerpoint/2010/main" val="23221324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2289" y="2082546"/>
            <a:ext cx="45186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End of</a:t>
            </a:r>
            <a:r>
              <a:rPr sz="6000" spc="-20" dirty="0"/>
              <a:t> </a:t>
            </a:r>
            <a:r>
              <a:rPr sz="6000" dirty="0"/>
              <a:t>Week</a:t>
            </a:r>
            <a:r>
              <a:rPr sz="6000" spc="-5" dirty="0"/>
              <a:t> </a:t>
            </a:r>
            <a:r>
              <a:rPr lang="en-GB" sz="6000" spc="-50" dirty="0"/>
              <a:t>8</a:t>
            </a:r>
            <a:endParaRPr sz="6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pc="-10" dirty="0"/>
              <a:t>Web</a:t>
            </a:r>
            <a:r>
              <a:rPr spc="-3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Database</a:t>
            </a:r>
            <a:r>
              <a:rPr spc="-20" dirty="0"/>
              <a:t> </a:t>
            </a:r>
            <a:r>
              <a:rPr spc="-10" dirty="0"/>
              <a:t>Systems</a:t>
            </a:r>
            <a:r>
              <a:rPr spc="-45" dirty="0"/>
              <a:t> </a:t>
            </a:r>
            <a:r>
              <a:rPr spc="-10" dirty="0"/>
              <a:t>(COM1025)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6490</TotalTime>
  <Words>4562</Words>
  <Application>Microsoft Macintosh PowerPoint</Application>
  <PresentationFormat>On-screen Show (4:3)</PresentationFormat>
  <Paragraphs>537</Paragraphs>
  <Slides>61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Arial</vt:lpstr>
      <vt:lpstr>Calibri</vt:lpstr>
      <vt:lpstr>Courier New</vt:lpstr>
      <vt:lpstr>Gotham</vt:lpstr>
      <vt:lpstr>Roboto</vt:lpstr>
      <vt:lpstr>Söhne</vt:lpstr>
      <vt:lpstr>Symbol</vt:lpstr>
      <vt:lpstr>Times New Roman</vt:lpstr>
      <vt:lpstr>Wingdings</vt:lpstr>
      <vt:lpstr>Office Theme</vt:lpstr>
      <vt:lpstr>PowerPoint Presentation</vt:lpstr>
      <vt:lpstr>Last Week</vt:lpstr>
      <vt:lpstr>This Week</vt:lpstr>
      <vt:lpstr>HTTP</vt:lpstr>
      <vt:lpstr>PowerPoint Presentation</vt:lpstr>
      <vt:lpstr>HTTP</vt:lpstr>
      <vt:lpstr>Web browser vs. Web (HTTP) server</vt:lpstr>
      <vt:lpstr>From static to dynamic web pages</vt:lpstr>
      <vt:lpstr>Request a dynamic web page</vt:lpstr>
      <vt:lpstr>Sending a client request</vt:lpstr>
      <vt:lpstr>Structure of a server response</vt:lpstr>
      <vt:lpstr>The GET method</vt:lpstr>
      <vt:lpstr>The POST method</vt:lpstr>
      <vt:lpstr>Response status codes</vt:lpstr>
      <vt:lpstr>Response status codes</vt:lpstr>
      <vt:lpstr>The Web/HTTP is stateless</vt:lpstr>
      <vt:lpstr>The Web/HTTP is stateless</vt:lpstr>
      <vt:lpstr>Making Web/HTTP stateful</vt:lpstr>
      <vt:lpstr>Sessions</vt:lpstr>
      <vt:lpstr>A typical HTTP session (3 phases)</vt:lpstr>
      <vt:lpstr>Cookies</vt:lpstr>
      <vt:lpstr>HTTP Cookies</vt:lpstr>
      <vt:lpstr>HTTP cookies</vt:lpstr>
      <vt:lpstr>Creating cookies</vt:lpstr>
      <vt:lpstr>HTTP cookies</vt:lpstr>
      <vt:lpstr>Session and Permanent cookies</vt:lpstr>
      <vt:lpstr>HTTP cookies</vt:lpstr>
      <vt:lpstr>HttpOnly cookies</vt:lpstr>
      <vt:lpstr>Privacy?</vt:lpstr>
      <vt:lpstr>The GDPR, Cookie Consent</vt:lpstr>
      <vt:lpstr>The anatomy of a node project</vt:lpstr>
      <vt:lpstr>A Typical Node.js Project </vt:lpstr>
      <vt:lpstr>The Node Package Manager  </vt:lpstr>
      <vt:lpstr>The Node Package Manager(NPM)</vt:lpstr>
      <vt:lpstr>Getting Started with NPM  </vt:lpstr>
      <vt:lpstr>You now have a package.json file</vt:lpstr>
      <vt:lpstr>Getting Started with NPM  </vt:lpstr>
      <vt:lpstr>Let’s Install Colors (i)</vt:lpstr>
      <vt:lpstr>Let’s Install Colors.js (ii)</vt:lpstr>
      <vt:lpstr>Using Packages </vt:lpstr>
      <vt:lpstr>Some TIPS</vt:lpstr>
      <vt:lpstr>DEMO (see Lecture TAB)</vt:lpstr>
      <vt:lpstr>Web Development Frameworks</vt:lpstr>
      <vt:lpstr>Front end vs back-End Development </vt:lpstr>
      <vt:lpstr>WEB FRAMEWORKS</vt:lpstr>
      <vt:lpstr>PowerPoint Presentation</vt:lpstr>
      <vt:lpstr>Creating and Express Application</vt:lpstr>
      <vt:lpstr>Serving HTML files</vt:lpstr>
      <vt:lpstr>Using the Static Middleware</vt:lpstr>
      <vt:lpstr>Serving Static Assets</vt:lpstr>
      <vt:lpstr>DEMO</vt:lpstr>
      <vt:lpstr>What’s wrong with just HTML</vt:lpstr>
      <vt:lpstr>Templating to the Rescue</vt:lpstr>
      <vt:lpstr>Express supports templating</vt:lpstr>
      <vt:lpstr>Using EJS (i)</vt:lpstr>
      <vt:lpstr>Using EJS (iI)</vt:lpstr>
      <vt:lpstr>EJS Allows HTML to be chunked</vt:lpstr>
      <vt:lpstr>Different types of Tags </vt:lpstr>
      <vt:lpstr>DEMO (SEE Lecture TAB)</vt:lpstr>
      <vt:lpstr>End of lecture</vt:lpstr>
      <vt:lpstr>End of Week 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</dc:title>
  <dc:subject>COM1025: Web and Database Systems</dc:subject>
  <dc:creator>Dr Manos Panaousis</dc:creator>
  <cp:lastModifiedBy>Appleton, Joseph Dr (Comp Sci &amp; Elec Eng)</cp:lastModifiedBy>
  <cp:revision>15</cp:revision>
  <dcterms:created xsi:type="dcterms:W3CDTF">2023-11-01T12:50:21Z</dcterms:created>
  <dcterms:modified xsi:type="dcterms:W3CDTF">2024-11-15T06:14:30Z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2023-11-01T00:00:00Z</vt:filetime>
  </property>
  <property fmtid="{D5CDD505-2E9C-101B-9397-08002B2CF9AE}" pid="5" name="Producer">
    <vt:lpwstr>Microsoft® PowerPoint® for Microsoft 365</vt:lpwstr>
  </property>
</Properties>
</file>